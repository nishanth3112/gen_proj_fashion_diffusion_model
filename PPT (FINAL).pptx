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2" r:id="rId24"/>
    <p:sldId id="283" r:id="rId25"/>
    <p:sldId id="278" r:id="rId26"/>
    <p:sldId id="279" r:id="rId27"/>
    <p:sldId id="280" r:id="rId28"/>
    <p:sldId id="281" r:id="rId2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>
      <p:cViewPr varScale="1">
        <p:scale>
          <a:sx n="120" d="100"/>
          <a:sy n="120" d="100"/>
        </p:scale>
        <p:origin x="800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334125"/>
          </a:xfrm>
          <a:custGeom>
            <a:avLst/>
            <a:gdLst/>
            <a:ahLst/>
            <a:cxnLst/>
            <a:rect l="l" t="t" r="r" b="b"/>
            <a:pathLst>
              <a:path w="12192000" h="6334125">
                <a:moveTo>
                  <a:pt x="0" y="6333744"/>
                </a:moveTo>
                <a:lnTo>
                  <a:pt x="12192000" y="6333744"/>
                </a:lnTo>
                <a:lnTo>
                  <a:pt x="12192000" y="0"/>
                </a:lnTo>
                <a:lnTo>
                  <a:pt x="0" y="0"/>
                </a:lnTo>
                <a:lnTo>
                  <a:pt x="0" y="6333744"/>
                </a:lnTo>
                <a:close/>
              </a:path>
            </a:pathLst>
          </a:custGeom>
          <a:solidFill>
            <a:srgbClr val="EDEB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400799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DD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6333744"/>
            <a:ext cx="12192000" cy="67310"/>
          </a:xfrm>
          <a:custGeom>
            <a:avLst/>
            <a:gdLst/>
            <a:ahLst/>
            <a:cxnLst/>
            <a:rect l="l" t="t" r="r" b="b"/>
            <a:pathLst>
              <a:path w="12192000" h="67310">
                <a:moveTo>
                  <a:pt x="12192000" y="0"/>
                </a:moveTo>
                <a:lnTo>
                  <a:pt x="0" y="0"/>
                </a:lnTo>
                <a:lnTo>
                  <a:pt x="0" y="67055"/>
                </a:lnTo>
                <a:lnTo>
                  <a:pt x="12192000" y="67055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84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194816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334125"/>
          </a:xfrm>
          <a:custGeom>
            <a:avLst/>
            <a:gdLst/>
            <a:ahLst/>
            <a:cxnLst/>
            <a:rect l="l" t="t" r="r" b="b"/>
            <a:pathLst>
              <a:path w="12192000" h="6334125">
                <a:moveTo>
                  <a:pt x="0" y="6333744"/>
                </a:moveTo>
                <a:lnTo>
                  <a:pt x="12192000" y="6333744"/>
                </a:lnTo>
                <a:lnTo>
                  <a:pt x="12192000" y="0"/>
                </a:lnTo>
                <a:lnTo>
                  <a:pt x="0" y="0"/>
                </a:lnTo>
                <a:lnTo>
                  <a:pt x="0" y="6333744"/>
                </a:lnTo>
                <a:close/>
              </a:path>
            </a:pathLst>
          </a:custGeom>
          <a:solidFill>
            <a:srgbClr val="EDEB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400799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DD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6333744"/>
            <a:ext cx="12192000" cy="67310"/>
          </a:xfrm>
          <a:custGeom>
            <a:avLst/>
            <a:gdLst/>
            <a:ahLst/>
            <a:cxnLst/>
            <a:rect l="l" t="t" r="r" b="b"/>
            <a:pathLst>
              <a:path w="12192000" h="67310">
                <a:moveTo>
                  <a:pt x="12192000" y="0"/>
                </a:moveTo>
                <a:lnTo>
                  <a:pt x="0" y="0"/>
                </a:lnTo>
                <a:lnTo>
                  <a:pt x="0" y="67055"/>
                </a:lnTo>
                <a:lnTo>
                  <a:pt x="12192000" y="67055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84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40457" y="553288"/>
            <a:ext cx="7987030" cy="757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7540" y="1684048"/>
            <a:ext cx="11014710" cy="4553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github.com/nishanth3112/fashion_product_image_gen_project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97752"/>
            <a:ext cx="12192000" cy="3175"/>
          </a:xfrm>
          <a:custGeom>
            <a:avLst/>
            <a:gdLst/>
            <a:ahLst/>
            <a:cxnLst/>
            <a:rect l="l" t="t" r="r" b="b"/>
            <a:pathLst>
              <a:path w="12192000" h="3175">
                <a:moveTo>
                  <a:pt x="0" y="3047"/>
                </a:moveTo>
                <a:lnTo>
                  <a:pt x="12192000" y="3047"/>
                </a:lnTo>
                <a:lnTo>
                  <a:pt x="12192000" y="0"/>
                </a:lnTo>
                <a:lnTo>
                  <a:pt x="0" y="0"/>
                </a:lnTo>
                <a:lnTo>
                  <a:pt x="0" y="3047"/>
                </a:lnTo>
                <a:close/>
              </a:path>
            </a:pathLst>
          </a:custGeom>
          <a:solidFill>
            <a:srgbClr val="EDEB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6334125"/>
          </a:xfrm>
          <a:custGeom>
            <a:avLst/>
            <a:gdLst/>
            <a:ahLst/>
            <a:cxnLst/>
            <a:rect l="l" t="t" r="r" b="b"/>
            <a:pathLst>
              <a:path w="12192000" h="6334125">
                <a:moveTo>
                  <a:pt x="0" y="6333744"/>
                </a:moveTo>
                <a:lnTo>
                  <a:pt x="12192000" y="6333744"/>
                </a:lnTo>
                <a:lnTo>
                  <a:pt x="12192000" y="0"/>
                </a:lnTo>
                <a:lnTo>
                  <a:pt x="0" y="0"/>
                </a:lnTo>
                <a:lnTo>
                  <a:pt x="0" y="6333744"/>
                </a:lnTo>
                <a:close/>
              </a:path>
            </a:pathLst>
          </a:custGeom>
          <a:solidFill>
            <a:srgbClr val="EDEBE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6333744"/>
            <a:ext cx="12192000" cy="524510"/>
            <a:chOff x="0" y="6333744"/>
            <a:chExt cx="12192000" cy="524510"/>
          </a:xfrm>
        </p:grpSpPr>
        <p:sp>
          <p:nvSpPr>
            <p:cNvPr id="5" name="object 5"/>
            <p:cNvSpPr/>
            <p:nvPr/>
          </p:nvSpPr>
          <p:spPr>
            <a:xfrm>
              <a:off x="3047" y="6400799"/>
              <a:ext cx="12189460" cy="457200"/>
            </a:xfrm>
            <a:custGeom>
              <a:avLst/>
              <a:gdLst/>
              <a:ahLst/>
              <a:cxnLst/>
              <a:rect l="l" t="t" r="r" b="b"/>
              <a:pathLst>
                <a:path w="12189460" h="457200">
                  <a:moveTo>
                    <a:pt x="12188952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952" y="457199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DD5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333744"/>
              <a:ext cx="12189460" cy="64135"/>
            </a:xfrm>
            <a:custGeom>
              <a:avLst/>
              <a:gdLst/>
              <a:ahLst/>
              <a:cxnLst/>
              <a:rect l="l" t="t" r="r" b="b"/>
              <a:pathLst>
                <a:path w="12189460" h="64135">
                  <a:moveTo>
                    <a:pt x="12188952" y="0"/>
                  </a:moveTo>
                  <a:lnTo>
                    <a:pt x="0" y="0"/>
                  </a:lnTo>
                  <a:lnTo>
                    <a:pt x="0" y="64007"/>
                  </a:lnTo>
                  <a:lnTo>
                    <a:pt x="12188952" y="64007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FF84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176324" y="920572"/>
            <a:ext cx="9704705" cy="3345403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 marR="5080">
              <a:lnSpc>
                <a:spcPct val="85000"/>
              </a:lnSpc>
              <a:spcBef>
                <a:spcPts val="1535"/>
              </a:spcBef>
            </a:pPr>
            <a:r>
              <a:rPr sz="8000" spc="-55" dirty="0">
                <a:solidFill>
                  <a:srgbClr val="252525"/>
                </a:solidFill>
              </a:rPr>
              <a:t>Fashion</a:t>
            </a:r>
            <a:r>
              <a:rPr sz="8000" spc="-395" dirty="0">
                <a:solidFill>
                  <a:srgbClr val="252525"/>
                </a:solidFill>
              </a:rPr>
              <a:t> </a:t>
            </a:r>
            <a:r>
              <a:rPr sz="8000" spc="-70" dirty="0">
                <a:solidFill>
                  <a:srgbClr val="252525"/>
                </a:solidFill>
              </a:rPr>
              <a:t>Product</a:t>
            </a:r>
            <a:r>
              <a:rPr sz="8000" spc="-350" dirty="0">
                <a:solidFill>
                  <a:srgbClr val="252525"/>
                </a:solidFill>
              </a:rPr>
              <a:t> </a:t>
            </a:r>
            <a:r>
              <a:rPr sz="8000" spc="-10" dirty="0">
                <a:solidFill>
                  <a:srgbClr val="252525"/>
                </a:solidFill>
              </a:rPr>
              <a:t>Image </a:t>
            </a:r>
            <a:r>
              <a:rPr sz="8000" spc="-70" dirty="0">
                <a:solidFill>
                  <a:srgbClr val="252525"/>
                </a:solidFill>
              </a:rPr>
              <a:t>Generation</a:t>
            </a:r>
            <a:r>
              <a:rPr sz="8000" spc="-360" dirty="0">
                <a:solidFill>
                  <a:srgbClr val="252525"/>
                </a:solidFill>
              </a:rPr>
              <a:t> </a:t>
            </a:r>
            <a:r>
              <a:rPr sz="8000" spc="-10" dirty="0">
                <a:solidFill>
                  <a:srgbClr val="252525"/>
                </a:solidFill>
              </a:rPr>
              <a:t>Using</a:t>
            </a:r>
            <a:r>
              <a:rPr lang="en-US" sz="8000" spc="-10" dirty="0">
                <a:solidFill>
                  <a:srgbClr val="252525"/>
                </a:solidFill>
              </a:rPr>
              <a:t> Diffusion Models</a:t>
            </a:r>
            <a:endParaRPr sz="8000" dirty="0"/>
          </a:p>
        </p:txBody>
      </p:sp>
      <p:sp>
        <p:nvSpPr>
          <p:cNvPr id="9" name="object 9"/>
          <p:cNvSpPr txBox="1"/>
          <p:nvPr/>
        </p:nvSpPr>
        <p:spPr>
          <a:xfrm>
            <a:off x="1176324" y="4729683"/>
            <a:ext cx="4516120" cy="137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35"/>
              </a:lnSpc>
              <a:spcBef>
                <a:spcPts val="100"/>
              </a:spcBef>
              <a:tabLst>
                <a:tab pos="2807970" algn="l"/>
              </a:tabLst>
            </a:pPr>
            <a:r>
              <a:rPr sz="2400" spc="130" dirty="0">
                <a:solidFill>
                  <a:srgbClr val="505046"/>
                </a:solidFill>
                <a:latin typeface="Calibri Light"/>
                <a:cs typeface="Calibri Light"/>
              </a:rPr>
              <a:t>ARUN</a:t>
            </a:r>
            <a:r>
              <a:rPr sz="2400" spc="415" dirty="0">
                <a:solidFill>
                  <a:srgbClr val="505046"/>
                </a:solidFill>
                <a:latin typeface="Calibri Light"/>
                <a:cs typeface="Calibri Light"/>
              </a:rPr>
              <a:t> </a:t>
            </a:r>
            <a:r>
              <a:rPr sz="2400" spc="125" dirty="0">
                <a:solidFill>
                  <a:srgbClr val="505046"/>
                </a:solidFill>
                <a:latin typeface="Calibri Light"/>
                <a:cs typeface="Calibri Light"/>
              </a:rPr>
              <a:t>SOLAIAPPAN</a:t>
            </a:r>
            <a:r>
              <a:rPr sz="2400" dirty="0">
                <a:solidFill>
                  <a:srgbClr val="505046"/>
                </a:solidFill>
                <a:latin typeface="Calibri Light"/>
                <a:cs typeface="Calibri Light"/>
              </a:rPr>
              <a:t>	</a:t>
            </a:r>
            <a:r>
              <a:rPr sz="2400" spc="114" dirty="0">
                <a:solidFill>
                  <a:srgbClr val="505046"/>
                </a:solidFill>
                <a:latin typeface="Calibri Light"/>
                <a:cs typeface="Calibri Light"/>
              </a:rPr>
              <a:t>VALLIAPPAN</a:t>
            </a:r>
            <a:endParaRPr sz="2400">
              <a:latin typeface="Calibri Light"/>
              <a:cs typeface="Calibri Light"/>
            </a:endParaRPr>
          </a:p>
          <a:p>
            <a:pPr marL="12700">
              <a:lnSpc>
                <a:spcPts val="2595"/>
              </a:lnSpc>
            </a:pPr>
            <a:r>
              <a:rPr sz="2400" spc="135" dirty="0">
                <a:solidFill>
                  <a:srgbClr val="505046"/>
                </a:solidFill>
                <a:latin typeface="Calibri Light"/>
                <a:cs typeface="Calibri Light"/>
              </a:rPr>
              <a:t>ABHINAV</a:t>
            </a:r>
            <a:r>
              <a:rPr sz="2400" spc="465" dirty="0">
                <a:solidFill>
                  <a:srgbClr val="505046"/>
                </a:solidFill>
                <a:latin typeface="Calibri Light"/>
                <a:cs typeface="Calibri Light"/>
              </a:rPr>
              <a:t> </a:t>
            </a:r>
            <a:r>
              <a:rPr sz="2400" spc="114" dirty="0">
                <a:solidFill>
                  <a:srgbClr val="505046"/>
                </a:solidFill>
                <a:latin typeface="Calibri Light"/>
                <a:cs typeface="Calibri Light"/>
              </a:rPr>
              <a:t>ADITHYA</a:t>
            </a:r>
            <a:endParaRPr sz="2400">
              <a:latin typeface="Calibri Light"/>
              <a:cs typeface="Calibri Light"/>
            </a:endParaRPr>
          </a:p>
          <a:p>
            <a:pPr marL="12700">
              <a:lnSpc>
                <a:spcPts val="2595"/>
              </a:lnSpc>
              <a:tabLst>
                <a:tab pos="1605915" algn="l"/>
              </a:tabLst>
            </a:pPr>
            <a:r>
              <a:rPr sz="2400" spc="135" dirty="0">
                <a:solidFill>
                  <a:srgbClr val="505046"/>
                </a:solidFill>
                <a:latin typeface="Calibri Light"/>
                <a:cs typeface="Calibri Light"/>
              </a:rPr>
              <a:t>NISHANTH</a:t>
            </a:r>
            <a:r>
              <a:rPr sz="2400" dirty="0">
                <a:solidFill>
                  <a:srgbClr val="505046"/>
                </a:solidFill>
                <a:latin typeface="Calibri Light"/>
                <a:cs typeface="Calibri Light"/>
              </a:rPr>
              <a:t>	</a:t>
            </a:r>
            <a:r>
              <a:rPr sz="2400" spc="140" dirty="0">
                <a:solidFill>
                  <a:srgbClr val="505046"/>
                </a:solidFill>
                <a:latin typeface="Calibri Light"/>
                <a:cs typeface="Calibri Light"/>
              </a:rPr>
              <a:t>MANOHARAN</a:t>
            </a:r>
            <a:endParaRPr sz="2400">
              <a:latin typeface="Calibri Light"/>
              <a:cs typeface="Calibri Light"/>
            </a:endParaRPr>
          </a:p>
          <a:p>
            <a:pPr marL="12700">
              <a:lnSpc>
                <a:spcPts val="2735"/>
              </a:lnSpc>
            </a:pPr>
            <a:r>
              <a:rPr sz="2400" spc="145" dirty="0">
                <a:solidFill>
                  <a:srgbClr val="505046"/>
                </a:solidFill>
                <a:latin typeface="Calibri Light"/>
                <a:cs typeface="Calibri Light"/>
              </a:rPr>
              <a:t>PREETI</a:t>
            </a:r>
            <a:r>
              <a:rPr sz="2400" spc="445" dirty="0">
                <a:solidFill>
                  <a:srgbClr val="505046"/>
                </a:solidFill>
                <a:latin typeface="Calibri Light"/>
                <a:cs typeface="Calibri Light"/>
              </a:rPr>
              <a:t> </a:t>
            </a:r>
            <a:r>
              <a:rPr sz="2400" spc="155" dirty="0">
                <a:solidFill>
                  <a:srgbClr val="505046"/>
                </a:solidFill>
                <a:latin typeface="Calibri Light"/>
                <a:cs typeface="Calibri Light"/>
              </a:rPr>
              <a:t>PURNIMAA</a:t>
            </a:r>
            <a:r>
              <a:rPr sz="2400" spc="450" dirty="0">
                <a:solidFill>
                  <a:srgbClr val="505046"/>
                </a:solidFill>
                <a:latin typeface="Calibri Light"/>
                <a:cs typeface="Calibri Light"/>
              </a:rPr>
              <a:t> </a:t>
            </a:r>
            <a:r>
              <a:rPr sz="2400" spc="130" dirty="0">
                <a:solidFill>
                  <a:srgbClr val="505046"/>
                </a:solidFill>
                <a:latin typeface="Calibri Light"/>
                <a:cs typeface="Calibri Light"/>
              </a:rPr>
              <a:t>KANNAN</a:t>
            </a:r>
            <a:endParaRPr sz="24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4064" y="627710"/>
            <a:ext cx="458089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0" dirty="0"/>
              <a:t>Problem</a:t>
            </a:r>
            <a:r>
              <a:rPr spc="-210" dirty="0"/>
              <a:t> </a:t>
            </a:r>
            <a:r>
              <a:rPr spc="-90" dirty="0"/>
              <a:t>Statement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951230">
              <a:lnSpc>
                <a:spcPct val="100000"/>
              </a:lnSpc>
              <a:spcBef>
                <a:spcPts val="1010"/>
              </a:spcBef>
            </a:pPr>
            <a:r>
              <a:rPr b="1" spc="-10" dirty="0">
                <a:latin typeface="Calibri"/>
                <a:cs typeface="Calibri"/>
              </a:rPr>
              <a:t>Challenge</a:t>
            </a:r>
          </a:p>
          <a:p>
            <a:pPr marL="951230">
              <a:lnSpc>
                <a:spcPts val="2160"/>
              </a:lnSpc>
              <a:spcBef>
                <a:spcPts val="910"/>
              </a:spcBef>
            </a:pPr>
            <a:r>
              <a:rPr spc="-20" dirty="0"/>
              <a:t>E-</a:t>
            </a:r>
            <a:r>
              <a:rPr dirty="0"/>
              <a:t>commerce</a:t>
            </a:r>
            <a:r>
              <a:rPr spc="-30" dirty="0"/>
              <a:t> </a:t>
            </a:r>
            <a:r>
              <a:rPr spc="-10" dirty="0"/>
              <a:t>platforms</a:t>
            </a:r>
            <a:r>
              <a:rPr spc="-30" dirty="0"/>
              <a:t> </a:t>
            </a:r>
            <a:r>
              <a:rPr dirty="0"/>
              <a:t>need</a:t>
            </a:r>
            <a:r>
              <a:rPr spc="-55" dirty="0"/>
              <a:t> </a:t>
            </a:r>
            <a:r>
              <a:rPr spc="-20" dirty="0"/>
              <a:t>high-</a:t>
            </a:r>
            <a:r>
              <a:rPr dirty="0"/>
              <a:t>quality</a:t>
            </a:r>
            <a:r>
              <a:rPr spc="-70" dirty="0"/>
              <a:t> </a:t>
            </a:r>
            <a:r>
              <a:rPr dirty="0"/>
              <a:t>product</a:t>
            </a:r>
            <a:r>
              <a:rPr spc="-95" dirty="0"/>
              <a:t> </a:t>
            </a:r>
            <a:r>
              <a:rPr dirty="0"/>
              <a:t>images</a:t>
            </a:r>
            <a:r>
              <a:rPr spc="-10" dirty="0"/>
              <a:t> </a:t>
            </a:r>
            <a:r>
              <a:rPr dirty="0"/>
              <a:t>for</a:t>
            </a:r>
            <a:r>
              <a:rPr spc="-70" dirty="0"/>
              <a:t> </a:t>
            </a:r>
            <a:r>
              <a:rPr dirty="0"/>
              <a:t>catalog</a:t>
            </a:r>
            <a:r>
              <a:rPr spc="-40" dirty="0"/>
              <a:t> </a:t>
            </a:r>
            <a:r>
              <a:rPr spc="-10" dirty="0"/>
              <a:t>generation,</a:t>
            </a:r>
            <a:r>
              <a:rPr spc="-50" dirty="0"/>
              <a:t> </a:t>
            </a:r>
            <a:r>
              <a:rPr dirty="0"/>
              <a:t>but</a:t>
            </a:r>
            <a:r>
              <a:rPr spc="-70" dirty="0"/>
              <a:t> </a:t>
            </a:r>
            <a:r>
              <a:rPr spc="-10" dirty="0"/>
              <a:t>traditional</a:t>
            </a:r>
          </a:p>
          <a:p>
            <a:pPr marL="951230">
              <a:lnSpc>
                <a:spcPts val="2160"/>
              </a:lnSpc>
            </a:pPr>
            <a:r>
              <a:rPr spc="-10" dirty="0"/>
              <a:t>photography</a:t>
            </a:r>
            <a:r>
              <a:rPr spc="-65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spc="-10" dirty="0"/>
              <a:t>expensive</a:t>
            </a:r>
            <a:r>
              <a:rPr spc="10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spc="-10" dirty="0"/>
              <a:t>time-consuming.</a:t>
            </a:r>
          </a:p>
          <a:p>
            <a:pPr marL="951230">
              <a:lnSpc>
                <a:spcPct val="100000"/>
              </a:lnSpc>
              <a:spcBef>
                <a:spcPts val="935"/>
              </a:spcBef>
            </a:pPr>
            <a:r>
              <a:rPr b="1" spc="-10" dirty="0">
                <a:latin typeface="Calibri"/>
                <a:cs typeface="Calibri"/>
              </a:rPr>
              <a:t>Solution</a:t>
            </a:r>
          </a:p>
          <a:p>
            <a:pPr marL="951230">
              <a:lnSpc>
                <a:spcPts val="2160"/>
              </a:lnSpc>
              <a:spcBef>
                <a:spcPts val="915"/>
              </a:spcBef>
            </a:pPr>
            <a:r>
              <a:rPr spc="-25" dirty="0"/>
              <a:t>-</a:t>
            </a:r>
            <a:r>
              <a:rPr dirty="0"/>
              <a:t>&gt;</a:t>
            </a:r>
            <a:r>
              <a:rPr spc="-65" dirty="0"/>
              <a:t> </a:t>
            </a:r>
            <a:r>
              <a:rPr dirty="0"/>
              <a:t>Use</a:t>
            </a:r>
            <a:r>
              <a:rPr spc="-35" dirty="0"/>
              <a:t> </a:t>
            </a:r>
            <a:r>
              <a:rPr spc="-60" dirty="0"/>
              <a:t>Text-</a:t>
            </a:r>
            <a:r>
              <a:rPr spc="-25" dirty="0"/>
              <a:t>to-</a:t>
            </a:r>
            <a:r>
              <a:rPr dirty="0"/>
              <a:t>Image</a:t>
            </a:r>
            <a:r>
              <a:rPr spc="-20" dirty="0"/>
              <a:t> </a:t>
            </a:r>
            <a:r>
              <a:rPr dirty="0"/>
              <a:t>Diffusion</a:t>
            </a:r>
            <a:r>
              <a:rPr spc="-25" dirty="0"/>
              <a:t> </a:t>
            </a:r>
            <a:r>
              <a:rPr dirty="0"/>
              <a:t>Models</a:t>
            </a:r>
            <a:r>
              <a:rPr spc="-50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spc="-10" dirty="0"/>
              <a:t>generate</a:t>
            </a:r>
            <a:r>
              <a:rPr spc="-20" dirty="0"/>
              <a:t> </a:t>
            </a:r>
            <a:r>
              <a:rPr spc="-10" dirty="0"/>
              <a:t>realistic</a:t>
            </a:r>
            <a:r>
              <a:rPr spc="-15" dirty="0"/>
              <a:t> </a:t>
            </a:r>
            <a:r>
              <a:rPr dirty="0"/>
              <a:t>fashion</a:t>
            </a:r>
            <a:r>
              <a:rPr spc="-50" dirty="0"/>
              <a:t> </a:t>
            </a:r>
            <a:r>
              <a:rPr dirty="0"/>
              <a:t>product</a:t>
            </a:r>
            <a:r>
              <a:rPr spc="-90" dirty="0"/>
              <a:t> </a:t>
            </a:r>
            <a:r>
              <a:rPr dirty="0"/>
              <a:t>images</a:t>
            </a:r>
            <a:r>
              <a:rPr spc="-25" dirty="0"/>
              <a:t> </a:t>
            </a:r>
            <a:r>
              <a:rPr dirty="0"/>
              <a:t>from</a:t>
            </a:r>
            <a:r>
              <a:rPr spc="-85" dirty="0"/>
              <a:t> </a:t>
            </a:r>
            <a:r>
              <a:rPr spc="-20" dirty="0"/>
              <a:t>text</a:t>
            </a:r>
          </a:p>
          <a:p>
            <a:pPr marL="951230">
              <a:lnSpc>
                <a:spcPts val="2160"/>
              </a:lnSpc>
            </a:pPr>
            <a:r>
              <a:rPr dirty="0"/>
              <a:t>descriptions</a:t>
            </a:r>
            <a:r>
              <a:rPr spc="-90" dirty="0"/>
              <a:t> </a:t>
            </a:r>
            <a:r>
              <a:rPr spc="-10" dirty="0"/>
              <a:t>automatically.</a:t>
            </a:r>
          </a:p>
          <a:p>
            <a:pPr marL="951230">
              <a:lnSpc>
                <a:spcPct val="100000"/>
              </a:lnSpc>
              <a:spcBef>
                <a:spcPts val="915"/>
              </a:spcBef>
            </a:pPr>
            <a:r>
              <a:rPr spc="-25" dirty="0"/>
              <a:t>-</a:t>
            </a:r>
            <a:r>
              <a:rPr dirty="0"/>
              <a:t>&gt;</a:t>
            </a:r>
            <a:r>
              <a:rPr spc="-70" dirty="0"/>
              <a:t> </a:t>
            </a:r>
            <a:r>
              <a:rPr spc="-10" dirty="0"/>
              <a:t>Generate</a:t>
            </a:r>
            <a:r>
              <a:rPr spc="-30" dirty="0"/>
              <a:t> </a:t>
            </a:r>
            <a:r>
              <a:rPr spc="-10" dirty="0"/>
              <a:t>photorealistic</a:t>
            </a:r>
            <a:r>
              <a:rPr spc="-40" dirty="0"/>
              <a:t> </a:t>
            </a:r>
            <a:r>
              <a:rPr dirty="0"/>
              <a:t>fashion</a:t>
            </a:r>
            <a:r>
              <a:rPr spc="-55" dirty="0"/>
              <a:t> </a:t>
            </a:r>
            <a:r>
              <a:rPr dirty="0"/>
              <a:t>images</a:t>
            </a:r>
            <a:r>
              <a:rPr spc="-35" dirty="0"/>
              <a:t> </a:t>
            </a:r>
            <a:r>
              <a:rPr dirty="0"/>
              <a:t>from</a:t>
            </a:r>
            <a:r>
              <a:rPr spc="-90" dirty="0"/>
              <a:t> </a:t>
            </a:r>
            <a:r>
              <a:rPr dirty="0"/>
              <a:t>text</a:t>
            </a:r>
            <a:r>
              <a:rPr spc="-55" dirty="0"/>
              <a:t> </a:t>
            </a:r>
            <a:r>
              <a:rPr spc="-10" dirty="0"/>
              <a:t>prompts</a:t>
            </a:r>
          </a:p>
          <a:p>
            <a:pPr marL="951230">
              <a:lnSpc>
                <a:spcPct val="100000"/>
              </a:lnSpc>
              <a:spcBef>
                <a:spcPts val="940"/>
              </a:spcBef>
            </a:pPr>
            <a:r>
              <a:rPr spc="-25" dirty="0"/>
              <a:t>-</a:t>
            </a:r>
            <a:r>
              <a:rPr dirty="0"/>
              <a:t>&gt;</a:t>
            </a:r>
            <a:r>
              <a:rPr spc="-50" dirty="0"/>
              <a:t> </a:t>
            </a:r>
            <a:r>
              <a:rPr spc="-10" dirty="0"/>
              <a:t>Optimize</a:t>
            </a:r>
            <a:r>
              <a:rPr spc="-50" dirty="0"/>
              <a:t> </a:t>
            </a:r>
            <a:r>
              <a:rPr dirty="0"/>
              <a:t>model</a:t>
            </a:r>
            <a:r>
              <a:rPr spc="-40" dirty="0"/>
              <a:t> </a:t>
            </a:r>
            <a:r>
              <a:rPr spc="-10" dirty="0"/>
              <a:t>parameters </a:t>
            </a:r>
            <a:r>
              <a:rPr dirty="0"/>
              <a:t>for</a:t>
            </a:r>
            <a:r>
              <a:rPr spc="-65" dirty="0"/>
              <a:t> </a:t>
            </a:r>
            <a:r>
              <a:rPr dirty="0"/>
              <a:t>best</a:t>
            </a:r>
            <a:r>
              <a:rPr spc="-35" dirty="0"/>
              <a:t> </a:t>
            </a:r>
            <a:r>
              <a:rPr spc="-10" dirty="0"/>
              <a:t>quality</a:t>
            </a:r>
          </a:p>
          <a:p>
            <a:pPr marL="951230">
              <a:lnSpc>
                <a:spcPct val="100000"/>
              </a:lnSpc>
              <a:spcBef>
                <a:spcPts val="910"/>
              </a:spcBef>
            </a:pPr>
            <a:r>
              <a:rPr spc="-30" dirty="0"/>
              <a:t>-</a:t>
            </a:r>
            <a:r>
              <a:rPr dirty="0"/>
              <a:t>&gt;</a:t>
            </a:r>
            <a:r>
              <a:rPr spc="-65" dirty="0"/>
              <a:t> </a:t>
            </a:r>
            <a:r>
              <a:rPr dirty="0"/>
              <a:t>Compare</a:t>
            </a:r>
            <a:r>
              <a:rPr spc="-65" dirty="0"/>
              <a:t> </a:t>
            </a:r>
            <a:r>
              <a:rPr dirty="0"/>
              <a:t>multiple</a:t>
            </a:r>
            <a:r>
              <a:rPr spc="-60" dirty="0"/>
              <a:t> </a:t>
            </a:r>
            <a:r>
              <a:rPr dirty="0"/>
              <a:t>diffusion</a:t>
            </a:r>
            <a:r>
              <a:rPr spc="-30" dirty="0"/>
              <a:t> </a:t>
            </a:r>
            <a:r>
              <a:rPr spc="-10" dirty="0"/>
              <a:t>architectures</a:t>
            </a:r>
          </a:p>
          <a:p>
            <a:pPr marL="951230">
              <a:lnSpc>
                <a:spcPct val="100000"/>
              </a:lnSpc>
              <a:spcBef>
                <a:spcPts val="915"/>
              </a:spcBef>
            </a:pPr>
            <a:r>
              <a:rPr spc="-25" dirty="0"/>
              <a:t>-</a:t>
            </a:r>
            <a:r>
              <a:rPr dirty="0"/>
              <a:t>&gt;</a:t>
            </a:r>
            <a:r>
              <a:rPr spc="-60" dirty="0"/>
              <a:t> </a:t>
            </a:r>
            <a:r>
              <a:rPr spc="-10" dirty="0"/>
              <a:t>Evaluate</a:t>
            </a:r>
            <a:r>
              <a:rPr spc="-55" dirty="0"/>
              <a:t> </a:t>
            </a:r>
            <a:r>
              <a:rPr dirty="0"/>
              <a:t>using</a:t>
            </a:r>
            <a:r>
              <a:rPr spc="-75" dirty="0"/>
              <a:t> </a:t>
            </a:r>
            <a:r>
              <a:rPr spc="-10" dirty="0"/>
              <a:t>standard</a:t>
            </a:r>
            <a:r>
              <a:rPr spc="-45" dirty="0"/>
              <a:t> </a:t>
            </a:r>
            <a:r>
              <a:rPr spc="-10" dirty="0"/>
              <a:t>generative</a:t>
            </a:r>
            <a:r>
              <a:rPr spc="-15" dirty="0"/>
              <a:t> </a:t>
            </a:r>
            <a:r>
              <a:rPr spc="-10" dirty="0"/>
              <a:t>metrics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0515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Approach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884" y="1834133"/>
            <a:ext cx="10066020" cy="43180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03505">
              <a:lnSpc>
                <a:spcPts val="2280"/>
              </a:lnSpc>
              <a:spcBef>
                <a:spcPts val="90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project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builds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sz="20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AI</a:t>
            </a:r>
            <a:r>
              <a:rPr sz="20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generates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realistic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fashion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product</a:t>
            </a:r>
            <a:r>
              <a:rPr sz="20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images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20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text</a:t>
            </a:r>
            <a:endParaRPr sz="2000">
              <a:latin typeface="Calibri"/>
              <a:cs typeface="Calibri"/>
            </a:endParaRPr>
          </a:p>
          <a:p>
            <a:pPr marL="103505">
              <a:lnSpc>
                <a:spcPts val="2160"/>
              </a:lnSpc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descriptions.</a:t>
            </a:r>
            <a:endParaRPr sz="2000">
              <a:latin typeface="Calibri"/>
              <a:cs typeface="Calibri"/>
            </a:endParaRPr>
          </a:p>
          <a:p>
            <a:pPr marL="103505">
              <a:lnSpc>
                <a:spcPts val="2280"/>
              </a:lnSpc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used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Fashion</a:t>
            </a:r>
            <a:r>
              <a:rPr sz="2000" b="1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Product</a:t>
            </a:r>
            <a:r>
              <a:rPr sz="2000" b="1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Images</a:t>
            </a:r>
            <a:r>
              <a:rPr sz="2000" b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dataset</a:t>
            </a:r>
            <a:r>
              <a:rPr sz="2000" b="1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(4,000</a:t>
            </a:r>
            <a:r>
              <a:rPr sz="2000" b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samples)</a:t>
            </a:r>
            <a:r>
              <a:rPr sz="2000" b="1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implemented</a:t>
            </a:r>
            <a:r>
              <a:rPr sz="20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full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workflow:</a:t>
            </a:r>
            <a:endParaRPr sz="2000">
              <a:latin typeface="Calibri"/>
              <a:cs typeface="Calibri"/>
            </a:endParaRPr>
          </a:p>
          <a:p>
            <a:pPr marL="160655" indent="-147955">
              <a:lnSpc>
                <a:spcPct val="100000"/>
              </a:lnSpc>
              <a:spcBef>
                <a:spcPts val="1150"/>
              </a:spcBef>
              <a:buClr>
                <a:srgbClr val="E84B21"/>
              </a:buClr>
              <a:buFont typeface="Arial"/>
              <a:buChar char="•"/>
              <a:tabLst>
                <a:tab pos="16065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loading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&amp;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preprocessing</a:t>
            </a:r>
            <a:endParaRPr sz="2000">
              <a:latin typeface="Calibri"/>
              <a:cs typeface="Calibri"/>
            </a:endParaRPr>
          </a:p>
          <a:p>
            <a:pPr marL="160655" indent="-147955">
              <a:lnSpc>
                <a:spcPct val="100000"/>
              </a:lnSpc>
              <a:spcBef>
                <a:spcPts val="1180"/>
              </a:spcBef>
              <a:buClr>
                <a:srgbClr val="E84B21"/>
              </a:buClr>
              <a:buFont typeface="Arial"/>
              <a:buChar char="•"/>
              <a:tabLst>
                <a:tab pos="16065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CLIP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text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encoding</a:t>
            </a:r>
            <a:endParaRPr sz="2000">
              <a:latin typeface="Calibri"/>
              <a:cs typeface="Calibri"/>
            </a:endParaRPr>
          </a:p>
          <a:p>
            <a:pPr marL="160655" indent="-147955">
              <a:lnSpc>
                <a:spcPct val="100000"/>
              </a:lnSpc>
              <a:spcBef>
                <a:spcPts val="1155"/>
              </a:spcBef>
              <a:buClr>
                <a:srgbClr val="E84B21"/>
              </a:buClr>
              <a:buFont typeface="Arial"/>
              <a:buChar char="•"/>
              <a:tabLst>
                <a:tab pos="160655" algn="l"/>
              </a:tabLst>
            </a:pP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Diffusion-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based</a:t>
            </a:r>
            <a:r>
              <a:rPr sz="2000" spc="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image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generation</a:t>
            </a:r>
            <a:endParaRPr sz="2000">
              <a:latin typeface="Calibri"/>
              <a:cs typeface="Calibri"/>
            </a:endParaRPr>
          </a:p>
          <a:p>
            <a:pPr marL="160655" indent="-147955">
              <a:lnSpc>
                <a:spcPct val="100000"/>
              </a:lnSpc>
              <a:spcBef>
                <a:spcPts val="1150"/>
              </a:spcBef>
              <a:buClr>
                <a:srgbClr val="E84B21"/>
              </a:buClr>
              <a:buFont typeface="Arial"/>
              <a:buChar char="•"/>
              <a:tabLst>
                <a:tab pos="160655" algn="l"/>
              </a:tabLst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Parameter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tuning</a:t>
            </a:r>
            <a:endParaRPr sz="2000">
              <a:latin typeface="Calibri"/>
              <a:cs typeface="Calibri"/>
            </a:endParaRPr>
          </a:p>
          <a:p>
            <a:pPr marL="160655" indent="-147955">
              <a:lnSpc>
                <a:spcPct val="100000"/>
              </a:lnSpc>
              <a:spcBef>
                <a:spcPts val="1180"/>
              </a:spcBef>
              <a:buClr>
                <a:srgbClr val="E84B21"/>
              </a:buClr>
              <a:buFont typeface="Arial"/>
              <a:buChar char="•"/>
              <a:tabLst>
                <a:tab pos="160655" algn="l"/>
              </a:tabLst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Evaluation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using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CLIP</a:t>
            </a:r>
            <a:r>
              <a:rPr sz="2000" b="1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Score,</a:t>
            </a:r>
            <a:r>
              <a:rPr sz="2000" b="1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FID,</a:t>
            </a:r>
            <a:r>
              <a:rPr sz="2000" b="1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b="1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Inception</a:t>
            </a:r>
            <a:r>
              <a:rPr sz="2000" b="1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Score</a:t>
            </a:r>
            <a:endParaRPr sz="2000">
              <a:latin typeface="Calibri"/>
              <a:cs typeface="Calibri"/>
            </a:endParaRPr>
          </a:p>
          <a:p>
            <a:pPr marL="160655" indent="-147955">
              <a:lnSpc>
                <a:spcPct val="100000"/>
              </a:lnSpc>
              <a:spcBef>
                <a:spcPts val="1155"/>
              </a:spcBef>
              <a:buClr>
                <a:srgbClr val="E84B21"/>
              </a:buClr>
              <a:buFont typeface="Arial"/>
              <a:buChar char="•"/>
              <a:tabLst>
                <a:tab pos="16065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Final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sample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generation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gallery</a:t>
            </a:r>
            <a:endParaRPr sz="2000">
              <a:latin typeface="Calibri"/>
              <a:cs typeface="Calibri"/>
            </a:endParaRPr>
          </a:p>
          <a:p>
            <a:pPr marL="103505">
              <a:lnSpc>
                <a:spcPts val="2280"/>
              </a:lnSpc>
              <a:spcBef>
                <a:spcPts val="1150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work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follows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milestone-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based</a:t>
            </a:r>
            <a:r>
              <a:rPr sz="2000" spc="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pipeline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simple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prompt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→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image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generation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fully</a:t>
            </a:r>
            <a:endParaRPr sz="2000">
              <a:latin typeface="Calibri"/>
              <a:cs typeface="Calibri"/>
            </a:endParaRPr>
          </a:p>
          <a:p>
            <a:pPr marL="103505">
              <a:lnSpc>
                <a:spcPts val="2280"/>
              </a:lnSpc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evaluated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model.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118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Dataset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951230">
              <a:lnSpc>
                <a:spcPct val="100000"/>
              </a:lnSpc>
              <a:spcBef>
                <a:spcPts val="1250"/>
              </a:spcBef>
            </a:pPr>
            <a:r>
              <a:rPr spc="-25" dirty="0"/>
              <a:t>-</a:t>
            </a:r>
            <a:r>
              <a:rPr dirty="0"/>
              <a:t>&gt;</a:t>
            </a:r>
            <a:r>
              <a:rPr spc="-1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dataset used was</a:t>
            </a:r>
            <a:r>
              <a:rPr spc="5" dirty="0"/>
              <a:t> </a:t>
            </a:r>
            <a:r>
              <a:rPr b="1" spc="-20" dirty="0">
                <a:latin typeface="Calibri"/>
                <a:cs typeface="Calibri"/>
              </a:rPr>
              <a:t>ashraq/fashion-</a:t>
            </a:r>
            <a:r>
              <a:rPr b="1" spc="-10" dirty="0">
                <a:latin typeface="Calibri"/>
                <a:cs typeface="Calibri"/>
              </a:rPr>
              <a:t>product-</a:t>
            </a:r>
            <a:r>
              <a:rPr b="1" spc="-25" dirty="0">
                <a:latin typeface="Calibri"/>
                <a:cs typeface="Calibri"/>
              </a:rPr>
              <a:t>images-</a:t>
            </a:r>
            <a:r>
              <a:rPr b="1" dirty="0">
                <a:latin typeface="Calibri"/>
                <a:cs typeface="Calibri"/>
              </a:rPr>
              <a:t>small</a:t>
            </a:r>
            <a:r>
              <a:rPr dirty="0"/>
              <a:t>,</a:t>
            </a:r>
            <a:r>
              <a:rPr spc="20" dirty="0"/>
              <a:t> </a:t>
            </a:r>
            <a:r>
              <a:rPr dirty="0"/>
              <a:t>from</a:t>
            </a:r>
            <a:r>
              <a:rPr spc="-25" dirty="0"/>
              <a:t> </a:t>
            </a:r>
            <a:r>
              <a:rPr spc="-10" dirty="0"/>
              <a:t>HuggingFace</a:t>
            </a:r>
          </a:p>
          <a:p>
            <a:pPr marL="951230">
              <a:lnSpc>
                <a:spcPct val="100000"/>
              </a:lnSpc>
              <a:spcBef>
                <a:spcPts val="1150"/>
              </a:spcBef>
            </a:pPr>
            <a:r>
              <a:rPr spc="-30" dirty="0"/>
              <a:t>-</a:t>
            </a:r>
            <a:r>
              <a:rPr dirty="0"/>
              <a:t>&gt;</a:t>
            </a:r>
            <a:r>
              <a:rPr spc="-40" dirty="0"/>
              <a:t> </a:t>
            </a:r>
            <a:r>
              <a:rPr dirty="0"/>
              <a:t>4,000</a:t>
            </a:r>
            <a:r>
              <a:rPr spc="-65" dirty="0"/>
              <a:t> </a:t>
            </a:r>
            <a:r>
              <a:rPr dirty="0"/>
              <a:t>training</a:t>
            </a:r>
            <a:r>
              <a:rPr spc="-35" dirty="0"/>
              <a:t> </a:t>
            </a:r>
            <a:r>
              <a:rPr spc="-10" dirty="0"/>
              <a:t>samples</a:t>
            </a:r>
          </a:p>
          <a:p>
            <a:pPr marL="951230">
              <a:lnSpc>
                <a:spcPct val="100000"/>
              </a:lnSpc>
              <a:spcBef>
                <a:spcPts val="1180"/>
              </a:spcBef>
            </a:pPr>
            <a:r>
              <a:rPr spc="-25" dirty="0"/>
              <a:t>-</a:t>
            </a:r>
            <a:r>
              <a:rPr dirty="0"/>
              <a:t>&gt;</a:t>
            </a:r>
            <a:r>
              <a:rPr spc="-55" dirty="0"/>
              <a:t> </a:t>
            </a:r>
            <a:r>
              <a:rPr dirty="0"/>
              <a:t>Columns</a:t>
            </a:r>
            <a:r>
              <a:rPr spc="-55" dirty="0"/>
              <a:t> </a:t>
            </a:r>
            <a:r>
              <a:rPr dirty="0"/>
              <a:t>include</a:t>
            </a:r>
            <a:r>
              <a:rPr spc="-55" dirty="0"/>
              <a:t> </a:t>
            </a:r>
            <a:r>
              <a:rPr spc="-30" dirty="0"/>
              <a:t>gender,</a:t>
            </a:r>
            <a:r>
              <a:rPr spc="-65" dirty="0"/>
              <a:t> </a:t>
            </a:r>
            <a:r>
              <a:rPr dirty="0"/>
              <a:t>product</a:t>
            </a:r>
            <a:r>
              <a:rPr spc="-65" dirty="0"/>
              <a:t> </a:t>
            </a:r>
            <a:r>
              <a:rPr dirty="0"/>
              <a:t>type,</a:t>
            </a:r>
            <a:r>
              <a:rPr spc="-80" dirty="0"/>
              <a:t> </a:t>
            </a:r>
            <a:r>
              <a:rPr spc="-25" dirty="0"/>
              <a:t>color,</a:t>
            </a:r>
            <a:r>
              <a:rPr spc="-65" dirty="0"/>
              <a:t> </a:t>
            </a:r>
            <a:r>
              <a:rPr dirty="0"/>
              <a:t>season,</a:t>
            </a:r>
            <a:r>
              <a:rPr spc="-25" dirty="0"/>
              <a:t> </a:t>
            </a:r>
            <a:r>
              <a:rPr spc="-30" dirty="0"/>
              <a:t>year,</a:t>
            </a:r>
            <a:r>
              <a:rPr spc="-65" dirty="0"/>
              <a:t> </a:t>
            </a:r>
            <a:r>
              <a:rPr dirty="0"/>
              <a:t>usage,</a:t>
            </a:r>
            <a:r>
              <a:rPr spc="-40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dirty="0"/>
              <a:t>product</a:t>
            </a:r>
            <a:r>
              <a:rPr spc="-85" dirty="0"/>
              <a:t> </a:t>
            </a:r>
            <a:r>
              <a:rPr dirty="0"/>
              <a:t>display</a:t>
            </a:r>
            <a:r>
              <a:rPr spc="-40" dirty="0"/>
              <a:t> </a:t>
            </a:r>
            <a:r>
              <a:rPr spc="-20" dirty="0"/>
              <a:t>name</a:t>
            </a:r>
          </a:p>
          <a:p>
            <a:pPr marL="951230">
              <a:lnSpc>
                <a:spcPct val="100000"/>
              </a:lnSpc>
              <a:spcBef>
                <a:spcPts val="1150"/>
              </a:spcBef>
            </a:pPr>
            <a:r>
              <a:rPr spc="-25" dirty="0"/>
              <a:t>-</a:t>
            </a:r>
            <a:r>
              <a:rPr dirty="0"/>
              <a:t>&gt;</a:t>
            </a:r>
            <a:r>
              <a:rPr spc="-40" dirty="0"/>
              <a:t> </a:t>
            </a:r>
            <a:r>
              <a:rPr dirty="0"/>
              <a:t>Each</a:t>
            </a:r>
            <a:r>
              <a:rPr spc="-60" dirty="0"/>
              <a:t> </a:t>
            </a:r>
            <a:r>
              <a:rPr dirty="0"/>
              <a:t>entry</a:t>
            </a:r>
            <a:r>
              <a:rPr spc="-15" dirty="0"/>
              <a:t> </a:t>
            </a:r>
            <a:r>
              <a:rPr spc="-10" dirty="0"/>
              <a:t>contains</a:t>
            </a:r>
            <a:r>
              <a:rPr spc="-35" dirty="0"/>
              <a:t> </a:t>
            </a:r>
            <a:r>
              <a:rPr dirty="0"/>
              <a:t>image</a:t>
            </a:r>
            <a:r>
              <a:rPr spc="-20" dirty="0"/>
              <a:t> </a:t>
            </a:r>
            <a:r>
              <a:rPr dirty="0"/>
              <a:t>+</a:t>
            </a:r>
            <a:r>
              <a:rPr spc="-55" dirty="0"/>
              <a:t> </a:t>
            </a:r>
            <a:r>
              <a:rPr dirty="0"/>
              <a:t>text</a:t>
            </a:r>
            <a:r>
              <a:rPr spc="-25" dirty="0"/>
              <a:t> </a:t>
            </a:r>
            <a:r>
              <a:rPr spc="-10" dirty="0"/>
              <a:t>description</a:t>
            </a:r>
          </a:p>
          <a:p>
            <a:pPr marL="951230">
              <a:lnSpc>
                <a:spcPct val="100000"/>
              </a:lnSpc>
              <a:spcBef>
                <a:spcPts val="1155"/>
              </a:spcBef>
            </a:pPr>
            <a:r>
              <a:rPr spc="-30" dirty="0"/>
              <a:t>-</a:t>
            </a:r>
            <a:r>
              <a:rPr dirty="0"/>
              <a:t>&gt;</a:t>
            </a:r>
            <a:r>
              <a:rPr spc="-40" dirty="0"/>
              <a:t> </a:t>
            </a:r>
            <a:r>
              <a:rPr dirty="0"/>
              <a:t>Data</a:t>
            </a:r>
            <a:r>
              <a:rPr spc="-45" dirty="0"/>
              <a:t> </a:t>
            </a:r>
            <a:r>
              <a:rPr dirty="0"/>
              <a:t>was</a:t>
            </a:r>
            <a:r>
              <a:rPr spc="-35" dirty="0"/>
              <a:t> </a:t>
            </a:r>
            <a:r>
              <a:rPr dirty="0"/>
              <a:t>cleaned</a:t>
            </a:r>
            <a:r>
              <a:rPr spc="-5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spc="-10" dirty="0"/>
              <a:t>stored</a:t>
            </a:r>
            <a:r>
              <a:rPr spc="-20" dirty="0"/>
              <a:t> </a:t>
            </a:r>
            <a:r>
              <a:rPr dirty="0"/>
              <a:t>as</a:t>
            </a:r>
            <a:r>
              <a:rPr spc="-5" dirty="0"/>
              <a:t> </a:t>
            </a:r>
            <a:r>
              <a:rPr spc="-10" dirty="0"/>
              <a:t>fashion_cleaned.pkl</a:t>
            </a:r>
          </a:p>
          <a:p>
            <a:pPr marL="951230">
              <a:lnSpc>
                <a:spcPts val="2280"/>
              </a:lnSpc>
              <a:spcBef>
                <a:spcPts val="1180"/>
              </a:spcBef>
            </a:pPr>
            <a:r>
              <a:rPr dirty="0"/>
              <a:t>This</a:t>
            </a:r>
            <a:r>
              <a:rPr spc="-60" dirty="0"/>
              <a:t> </a:t>
            </a:r>
            <a:r>
              <a:rPr dirty="0"/>
              <a:t>dataset</a:t>
            </a:r>
            <a:r>
              <a:rPr spc="-40" dirty="0"/>
              <a:t> </a:t>
            </a:r>
            <a:r>
              <a:rPr dirty="0"/>
              <a:t>gives</a:t>
            </a:r>
            <a:r>
              <a:rPr spc="-20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dirty="0"/>
              <a:t>wide</a:t>
            </a:r>
            <a:r>
              <a:rPr spc="-80" dirty="0"/>
              <a:t> </a:t>
            </a:r>
            <a:r>
              <a:rPr dirty="0"/>
              <a:t>variation</a:t>
            </a:r>
            <a:r>
              <a:rPr spc="-40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shirts,</a:t>
            </a:r>
            <a:r>
              <a:rPr spc="-20" dirty="0"/>
              <a:t> </a:t>
            </a:r>
            <a:r>
              <a:rPr spc="-10" dirty="0"/>
              <a:t>watches,</a:t>
            </a:r>
            <a:r>
              <a:rPr spc="-20" dirty="0"/>
              <a:t> </a:t>
            </a:r>
            <a:r>
              <a:rPr dirty="0"/>
              <a:t>handbags,</a:t>
            </a:r>
            <a:r>
              <a:rPr spc="-80" dirty="0"/>
              <a:t> </a:t>
            </a:r>
            <a:r>
              <a:rPr dirty="0"/>
              <a:t>shoes,</a:t>
            </a:r>
            <a:r>
              <a:rPr spc="-20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dirty="0"/>
              <a:t>other</a:t>
            </a:r>
            <a:r>
              <a:rPr spc="-70" dirty="0"/>
              <a:t> </a:t>
            </a:r>
            <a:r>
              <a:rPr spc="-10" dirty="0"/>
              <a:t>apparel,</a:t>
            </a:r>
          </a:p>
          <a:p>
            <a:pPr marL="951230">
              <a:lnSpc>
                <a:spcPts val="2280"/>
              </a:lnSpc>
            </a:pPr>
            <a:r>
              <a:rPr dirty="0"/>
              <a:t>allowing</a:t>
            </a:r>
            <a:r>
              <a:rPr spc="-75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model</a:t>
            </a:r>
            <a:r>
              <a:rPr spc="-75" dirty="0"/>
              <a:t> </a:t>
            </a:r>
            <a:r>
              <a:rPr dirty="0"/>
              <a:t>to</a:t>
            </a:r>
            <a:r>
              <a:rPr spc="-65" dirty="0"/>
              <a:t> </a:t>
            </a:r>
            <a:r>
              <a:rPr dirty="0"/>
              <a:t>learn</a:t>
            </a:r>
            <a:r>
              <a:rPr spc="-40" dirty="0"/>
              <a:t> </a:t>
            </a:r>
            <a:r>
              <a:rPr dirty="0"/>
              <a:t>diverse</a:t>
            </a:r>
            <a:r>
              <a:rPr spc="-35" dirty="0"/>
              <a:t> </a:t>
            </a:r>
            <a:r>
              <a:rPr dirty="0"/>
              <a:t>visual</a:t>
            </a:r>
            <a:r>
              <a:rPr spc="-25" dirty="0"/>
              <a:t> </a:t>
            </a:r>
            <a:r>
              <a:rPr spc="-10" dirty="0"/>
              <a:t>patterns.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7" y="6400799"/>
            <a:ext cx="12189460" cy="457200"/>
          </a:xfrm>
          <a:custGeom>
            <a:avLst/>
            <a:gdLst/>
            <a:ahLst/>
            <a:cxnLst/>
            <a:rect l="l" t="t" r="r" b="b"/>
            <a:pathLst>
              <a:path w="12189460" h="457200">
                <a:moveTo>
                  <a:pt x="12188952" y="0"/>
                </a:move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lnTo>
                  <a:pt x="12188952" y="0"/>
                </a:lnTo>
                <a:close/>
              </a:path>
            </a:pathLst>
          </a:custGeom>
          <a:solidFill>
            <a:srgbClr val="DD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6334125"/>
          </a:xfrm>
          <a:custGeom>
            <a:avLst/>
            <a:gdLst/>
            <a:ahLst/>
            <a:cxnLst/>
            <a:rect l="l" t="t" r="r" b="b"/>
            <a:pathLst>
              <a:path w="12192000" h="6334125">
                <a:moveTo>
                  <a:pt x="12192000" y="0"/>
                </a:moveTo>
                <a:lnTo>
                  <a:pt x="0" y="0"/>
                </a:lnTo>
                <a:lnTo>
                  <a:pt x="0" y="6333744"/>
                </a:lnTo>
                <a:lnTo>
                  <a:pt x="12192000" y="6333744"/>
                </a:lnTo>
                <a:lnTo>
                  <a:pt x="12192000" y="0"/>
                </a:lnTo>
                <a:close/>
              </a:path>
            </a:pathLst>
          </a:custGeom>
          <a:solidFill>
            <a:srgbClr val="EDEB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218678" y="2311730"/>
            <a:ext cx="3039745" cy="1888489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 marR="5080">
              <a:lnSpc>
                <a:spcPts val="6750"/>
              </a:lnSpc>
              <a:spcBef>
                <a:spcPts val="1300"/>
              </a:spcBef>
            </a:pPr>
            <a:r>
              <a:rPr sz="6600" spc="-10" dirty="0">
                <a:solidFill>
                  <a:srgbClr val="252525"/>
                </a:solidFill>
              </a:rPr>
              <a:t>Dataset </a:t>
            </a:r>
            <a:r>
              <a:rPr sz="6600" spc="-60" dirty="0">
                <a:solidFill>
                  <a:srgbClr val="252525"/>
                </a:solidFill>
              </a:rPr>
              <a:t>overview</a:t>
            </a:r>
            <a:endParaRPr sz="6600"/>
          </a:p>
        </p:txBody>
      </p:sp>
      <p:grpSp>
        <p:nvGrpSpPr>
          <p:cNvPr id="5" name="object 5"/>
          <p:cNvGrpSpPr/>
          <p:nvPr/>
        </p:nvGrpSpPr>
        <p:grpSpPr>
          <a:xfrm>
            <a:off x="1200911" y="640080"/>
            <a:ext cx="10208260" cy="5053965"/>
            <a:chOff x="1200911" y="640080"/>
            <a:chExt cx="10208260" cy="505396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0911" y="640080"/>
              <a:ext cx="5775960" cy="505358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208264" y="4343400"/>
              <a:ext cx="3200400" cy="0"/>
            </a:xfrm>
            <a:custGeom>
              <a:avLst/>
              <a:gdLst/>
              <a:ahLst/>
              <a:cxnLst/>
              <a:rect l="l" t="t" r="r" b="b"/>
              <a:pathLst>
                <a:path w="3200400">
                  <a:moveTo>
                    <a:pt x="0" y="0"/>
                  </a:moveTo>
                  <a:lnTo>
                    <a:pt x="3200400" y="0"/>
                  </a:lnTo>
                </a:path>
              </a:pathLst>
            </a:custGeom>
            <a:ln w="6096">
              <a:solidFill>
                <a:srgbClr val="5050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97280" y="1572767"/>
            <a:ext cx="10064750" cy="4605655"/>
            <a:chOff x="1097280" y="1572767"/>
            <a:chExt cx="10064750" cy="4605655"/>
          </a:xfrm>
        </p:grpSpPr>
        <p:sp>
          <p:nvSpPr>
            <p:cNvPr id="3" name="object 3"/>
            <p:cNvSpPr/>
            <p:nvPr/>
          </p:nvSpPr>
          <p:spPr>
            <a:xfrm>
              <a:off x="1194816" y="1737359"/>
              <a:ext cx="9966960" cy="0"/>
            </a:xfrm>
            <a:custGeom>
              <a:avLst/>
              <a:gdLst/>
              <a:ahLst/>
              <a:cxnLst/>
              <a:rect l="l" t="t" r="r" b="b"/>
              <a:pathLst>
                <a:path w="9966960">
                  <a:moveTo>
                    <a:pt x="0" y="0"/>
                  </a:moveTo>
                  <a:lnTo>
                    <a:pt x="9966960" y="0"/>
                  </a:lnTo>
                </a:path>
              </a:pathLst>
            </a:custGeom>
            <a:ln w="609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29840" y="2691383"/>
              <a:ext cx="5132832" cy="291084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7280" y="1572767"/>
              <a:ext cx="10058400" cy="460552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082544" y="639902"/>
            <a:ext cx="610616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0" dirty="0"/>
              <a:t>ARCHITECTURE</a:t>
            </a:r>
            <a:r>
              <a:rPr spc="-180" dirty="0"/>
              <a:t> </a:t>
            </a:r>
            <a:r>
              <a:rPr spc="-45" dirty="0"/>
              <a:t>DIAGRAM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36319" y="1011936"/>
            <a:ext cx="10125710" cy="4584700"/>
            <a:chOff x="1036319" y="1011936"/>
            <a:chExt cx="10125710" cy="4584700"/>
          </a:xfrm>
        </p:grpSpPr>
        <p:sp>
          <p:nvSpPr>
            <p:cNvPr id="3" name="object 3"/>
            <p:cNvSpPr/>
            <p:nvPr/>
          </p:nvSpPr>
          <p:spPr>
            <a:xfrm>
              <a:off x="1194815" y="1737359"/>
              <a:ext cx="9966960" cy="0"/>
            </a:xfrm>
            <a:custGeom>
              <a:avLst/>
              <a:gdLst/>
              <a:ahLst/>
              <a:cxnLst/>
              <a:rect l="l" t="t" r="r" b="b"/>
              <a:pathLst>
                <a:path w="9966960">
                  <a:moveTo>
                    <a:pt x="0" y="0"/>
                  </a:moveTo>
                  <a:lnTo>
                    <a:pt x="9966960" y="0"/>
                  </a:lnTo>
                </a:path>
              </a:pathLst>
            </a:custGeom>
            <a:ln w="609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6319" y="1011936"/>
              <a:ext cx="10119360" cy="458419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09135" y="466420"/>
            <a:ext cx="425132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Pipeline</a:t>
            </a:r>
            <a:r>
              <a:rPr spc="-195" dirty="0"/>
              <a:t> </a:t>
            </a:r>
            <a:r>
              <a:rPr spc="-55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1693772"/>
            <a:ext cx="5256530" cy="451167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Our</a:t>
            </a:r>
            <a:r>
              <a:rPr sz="19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workflow</a:t>
            </a:r>
            <a:r>
              <a:rPr sz="19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combines</a:t>
            </a:r>
            <a:r>
              <a:rPr sz="19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b="1" dirty="0">
                <a:solidFill>
                  <a:srgbClr val="404040"/>
                </a:solidFill>
                <a:latin typeface="Calibri"/>
                <a:cs typeface="Calibri"/>
              </a:rPr>
              <a:t>CLIP</a:t>
            </a:r>
            <a:r>
              <a:rPr sz="1900" b="1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b="1" dirty="0">
                <a:solidFill>
                  <a:srgbClr val="404040"/>
                </a:solidFill>
                <a:latin typeface="Calibri"/>
                <a:cs typeface="Calibri"/>
              </a:rPr>
              <a:t>+</a:t>
            </a:r>
            <a:r>
              <a:rPr sz="1900" b="1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b="1" dirty="0">
                <a:solidFill>
                  <a:srgbClr val="404040"/>
                </a:solidFill>
                <a:latin typeface="Calibri"/>
                <a:cs typeface="Calibri"/>
              </a:rPr>
              <a:t>Stable</a:t>
            </a:r>
            <a:r>
              <a:rPr sz="1900" b="1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b="1" spc="-10" dirty="0">
                <a:solidFill>
                  <a:srgbClr val="404040"/>
                </a:solidFill>
                <a:latin typeface="Calibri"/>
                <a:cs typeface="Calibri"/>
              </a:rPr>
              <a:t>Diffusion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900" b="1" dirty="0">
                <a:solidFill>
                  <a:srgbClr val="404040"/>
                </a:solidFill>
                <a:latin typeface="Calibri"/>
                <a:cs typeface="Calibri"/>
              </a:rPr>
              <a:t>CLIP</a:t>
            </a:r>
            <a:r>
              <a:rPr sz="1900" b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b="1" spc="-10" dirty="0">
                <a:solidFill>
                  <a:srgbClr val="404040"/>
                </a:solidFill>
                <a:latin typeface="Calibri"/>
                <a:cs typeface="Calibri"/>
              </a:rPr>
              <a:t>Encoding</a:t>
            </a:r>
            <a:endParaRPr sz="1900">
              <a:latin typeface="Calibri"/>
              <a:cs typeface="Calibri"/>
            </a:endParaRPr>
          </a:p>
          <a:p>
            <a:pPr marL="304800" indent="-182880">
              <a:lnSpc>
                <a:spcPct val="100000"/>
              </a:lnSpc>
              <a:spcBef>
                <a:spcPts val="10"/>
              </a:spcBef>
              <a:buClr>
                <a:srgbClr val="E84B21"/>
              </a:buClr>
              <a:buChar char="◦"/>
              <a:tabLst>
                <a:tab pos="304800" algn="l"/>
              </a:tabLst>
            </a:pP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Converts</a:t>
            </a:r>
            <a:r>
              <a:rPr sz="17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product</a:t>
            </a:r>
            <a:r>
              <a:rPr sz="17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text</a:t>
            </a:r>
            <a:r>
              <a:rPr sz="17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into</a:t>
            </a:r>
            <a:r>
              <a:rPr sz="17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512-dimensional</a:t>
            </a:r>
            <a:r>
              <a:rPr sz="17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embeddings</a:t>
            </a:r>
            <a:endParaRPr sz="1700">
              <a:latin typeface="Calibri"/>
              <a:cs typeface="Calibri"/>
            </a:endParaRPr>
          </a:p>
          <a:p>
            <a:pPr marL="304800" indent="-182880">
              <a:lnSpc>
                <a:spcPct val="100000"/>
              </a:lnSpc>
              <a:spcBef>
                <a:spcPts val="190"/>
              </a:spcBef>
              <a:buClr>
                <a:srgbClr val="E84B21"/>
              </a:buClr>
              <a:buChar char="◦"/>
              <a:tabLst>
                <a:tab pos="304800" algn="l"/>
              </a:tabLst>
            </a:pP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Helps</a:t>
            </a:r>
            <a:r>
              <a:rPr sz="17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Evaluate</a:t>
            </a:r>
            <a:r>
              <a:rPr sz="17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text–image</a:t>
            </a:r>
            <a:r>
              <a:rPr sz="17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alignment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ts val="2270"/>
              </a:lnSpc>
              <a:spcBef>
                <a:spcPts val="1145"/>
              </a:spcBef>
            </a:pPr>
            <a:r>
              <a:rPr sz="1900" b="1" dirty="0">
                <a:solidFill>
                  <a:srgbClr val="404040"/>
                </a:solidFill>
                <a:latin typeface="Calibri"/>
                <a:cs typeface="Calibri"/>
              </a:rPr>
              <a:t>Stable</a:t>
            </a:r>
            <a:r>
              <a:rPr sz="1900" b="1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b="1" spc="-10" dirty="0">
                <a:solidFill>
                  <a:srgbClr val="404040"/>
                </a:solidFill>
                <a:latin typeface="Calibri"/>
                <a:cs typeface="Calibri"/>
              </a:rPr>
              <a:t>Diffusion</a:t>
            </a:r>
            <a:endParaRPr sz="1900">
              <a:latin typeface="Calibri"/>
              <a:cs typeface="Calibri"/>
            </a:endParaRPr>
          </a:p>
          <a:p>
            <a:pPr marL="304800" indent="-182880">
              <a:lnSpc>
                <a:spcPts val="2030"/>
              </a:lnSpc>
              <a:buClr>
                <a:srgbClr val="E84B21"/>
              </a:buClr>
              <a:buChar char="◦"/>
              <a:tabLst>
                <a:tab pos="304800" algn="l"/>
              </a:tabLst>
            </a:pP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Generates</a:t>
            </a:r>
            <a:r>
              <a:rPr sz="17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product</a:t>
            </a:r>
            <a:r>
              <a:rPr sz="17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images</a:t>
            </a:r>
            <a:r>
              <a:rPr sz="17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17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text</a:t>
            </a:r>
            <a:r>
              <a:rPr sz="17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prompts</a:t>
            </a:r>
            <a:endParaRPr sz="1700">
              <a:latin typeface="Calibri"/>
              <a:cs typeface="Calibri"/>
            </a:endParaRPr>
          </a:p>
          <a:p>
            <a:pPr marL="304800" indent="-182880">
              <a:lnSpc>
                <a:spcPct val="100000"/>
              </a:lnSpc>
              <a:spcBef>
                <a:spcPts val="195"/>
              </a:spcBef>
              <a:buClr>
                <a:srgbClr val="E84B21"/>
              </a:buClr>
              <a:buChar char="◦"/>
              <a:tabLst>
                <a:tab pos="304800" algn="l"/>
              </a:tabLst>
            </a:pPr>
            <a:r>
              <a:rPr sz="1700" spc="-30" dirty="0">
                <a:solidFill>
                  <a:srgbClr val="404040"/>
                </a:solidFill>
                <a:latin typeface="Calibri"/>
                <a:cs typeface="Calibri"/>
              </a:rPr>
              <a:t>Tested</a:t>
            </a:r>
            <a:r>
              <a:rPr sz="17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multiple</a:t>
            </a:r>
            <a:r>
              <a:rPr sz="17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parameters:</a:t>
            </a:r>
            <a:endParaRPr sz="1700">
              <a:latin typeface="Calibri"/>
              <a:cs typeface="Calibri"/>
            </a:endParaRPr>
          </a:p>
          <a:p>
            <a:pPr marL="488315" lvl="1" indent="-183515">
              <a:lnSpc>
                <a:spcPct val="100000"/>
              </a:lnSpc>
              <a:spcBef>
                <a:spcPts val="165"/>
              </a:spcBef>
              <a:buClr>
                <a:srgbClr val="E84B21"/>
              </a:buClr>
              <a:buChar char="◦"/>
              <a:tabLst>
                <a:tab pos="488315" algn="l"/>
              </a:tabLst>
            </a:pP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Guidance:</a:t>
            </a:r>
            <a:r>
              <a:rPr sz="1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7.5,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9.0,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Calibri"/>
                <a:cs typeface="Calibri"/>
              </a:rPr>
              <a:t>12.0</a:t>
            </a:r>
            <a:endParaRPr sz="1800">
              <a:latin typeface="Calibri"/>
              <a:cs typeface="Calibri"/>
            </a:endParaRPr>
          </a:p>
          <a:p>
            <a:pPr marL="488315" lvl="1" indent="-183515">
              <a:lnSpc>
                <a:spcPct val="100000"/>
              </a:lnSpc>
              <a:spcBef>
                <a:spcPts val="170"/>
              </a:spcBef>
              <a:buClr>
                <a:srgbClr val="E84B21"/>
              </a:buClr>
              <a:buChar char="◦"/>
              <a:tabLst>
                <a:tab pos="488315" algn="l"/>
              </a:tabLst>
            </a:pP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Steps:</a:t>
            </a:r>
            <a:r>
              <a:rPr sz="1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30,</a:t>
            </a:r>
            <a:r>
              <a:rPr sz="18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50</a:t>
            </a:r>
            <a:endParaRPr sz="1800">
              <a:latin typeface="Calibri"/>
              <a:cs typeface="Calibri"/>
            </a:endParaRPr>
          </a:p>
          <a:p>
            <a:pPr marL="488315" lvl="1" indent="-183515">
              <a:lnSpc>
                <a:spcPct val="100000"/>
              </a:lnSpc>
              <a:spcBef>
                <a:spcPts val="170"/>
              </a:spcBef>
              <a:buClr>
                <a:srgbClr val="E84B21"/>
              </a:buClr>
              <a:buChar char="◦"/>
              <a:tabLst>
                <a:tab pos="488315" algn="l"/>
              </a:tabLst>
            </a:pP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Schedulers: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Euler,</a:t>
            </a:r>
            <a:r>
              <a:rPr sz="18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DDIM,</a:t>
            </a:r>
            <a:r>
              <a:rPr sz="18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Calibri"/>
                <a:cs typeface="Calibri"/>
              </a:rPr>
              <a:t>PNDM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1900" b="1" spc="-10" dirty="0">
                <a:solidFill>
                  <a:srgbClr val="404040"/>
                </a:solidFill>
                <a:latin typeface="Calibri"/>
                <a:cs typeface="Calibri"/>
              </a:rPr>
              <a:t>Evaluation</a:t>
            </a:r>
            <a:r>
              <a:rPr sz="1900" b="1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b="1" spc="-10" dirty="0">
                <a:solidFill>
                  <a:srgbClr val="404040"/>
                </a:solidFill>
                <a:latin typeface="Calibri"/>
                <a:cs typeface="Calibri"/>
              </a:rPr>
              <a:t>Framework</a:t>
            </a:r>
            <a:endParaRPr sz="1900">
              <a:latin typeface="Calibri"/>
              <a:cs typeface="Calibri"/>
            </a:endParaRPr>
          </a:p>
          <a:p>
            <a:pPr marL="304800" indent="-182880">
              <a:lnSpc>
                <a:spcPct val="100000"/>
              </a:lnSpc>
              <a:spcBef>
                <a:spcPts val="5"/>
              </a:spcBef>
              <a:buClr>
                <a:srgbClr val="E84B21"/>
              </a:buClr>
              <a:buChar char="◦"/>
              <a:tabLst>
                <a:tab pos="304800" algn="l"/>
              </a:tabLst>
            </a:pP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CLIP</a:t>
            </a:r>
            <a:r>
              <a:rPr sz="17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Calibri"/>
                <a:cs typeface="Calibri"/>
              </a:rPr>
              <a:t>Score</a:t>
            </a:r>
            <a:endParaRPr sz="1700">
              <a:latin typeface="Calibri"/>
              <a:cs typeface="Calibri"/>
            </a:endParaRPr>
          </a:p>
          <a:p>
            <a:pPr marL="304800" indent="-182880">
              <a:lnSpc>
                <a:spcPct val="100000"/>
              </a:lnSpc>
              <a:spcBef>
                <a:spcPts val="195"/>
              </a:spcBef>
              <a:buClr>
                <a:srgbClr val="E84B21"/>
              </a:buClr>
              <a:buChar char="◦"/>
              <a:tabLst>
                <a:tab pos="304800" algn="l"/>
              </a:tabLst>
            </a:pP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FID</a:t>
            </a:r>
            <a:r>
              <a:rPr sz="17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Score</a:t>
            </a:r>
            <a:r>
              <a:rPr sz="17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(vs</a:t>
            </a:r>
            <a:r>
              <a:rPr sz="17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300</a:t>
            </a:r>
            <a:r>
              <a:rPr sz="17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real</a:t>
            </a:r>
            <a:r>
              <a:rPr sz="17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images)</a:t>
            </a:r>
            <a:endParaRPr sz="1700">
              <a:latin typeface="Calibri"/>
              <a:cs typeface="Calibri"/>
            </a:endParaRPr>
          </a:p>
          <a:p>
            <a:pPr marL="304800" indent="-182880">
              <a:lnSpc>
                <a:spcPct val="100000"/>
              </a:lnSpc>
              <a:spcBef>
                <a:spcPts val="195"/>
              </a:spcBef>
              <a:buClr>
                <a:srgbClr val="E84B21"/>
              </a:buClr>
              <a:buChar char="◦"/>
              <a:tabLst>
                <a:tab pos="304800" algn="l"/>
              </a:tabLst>
            </a:pP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Inception</a:t>
            </a:r>
            <a:r>
              <a:rPr sz="17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Calibri"/>
                <a:cs typeface="Calibri"/>
              </a:rPr>
              <a:t>Score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CLIP</a:t>
            </a:r>
            <a:r>
              <a:rPr spc="-204" dirty="0"/>
              <a:t> </a:t>
            </a:r>
            <a:r>
              <a:rPr spc="-105" dirty="0"/>
              <a:t>Embedding</a:t>
            </a:r>
            <a:r>
              <a:rPr spc="-210" dirty="0"/>
              <a:t> </a:t>
            </a:r>
            <a:r>
              <a:rPr dirty="0"/>
              <a:t>&amp;</a:t>
            </a:r>
            <a:r>
              <a:rPr spc="-170" dirty="0"/>
              <a:t> </a:t>
            </a:r>
            <a:r>
              <a:rPr spc="-114" dirty="0"/>
              <a:t>Prompt</a:t>
            </a:r>
            <a:r>
              <a:rPr spc="-185" dirty="0"/>
              <a:t> </a:t>
            </a:r>
            <a:r>
              <a:rPr spc="-459" dirty="0"/>
              <a:t>T</a:t>
            </a:r>
            <a:r>
              <a:rPr spc="-25" dirty="0"/>
              <a:t>e</a:t>
            </a:r>
            <a:r>
              <a:rPr spc="-85" dirty="0"/>
              <a:t>s</a:t>
            </a:r>
            <a:r>
              <a:rPr spc="-40" dirty="0"/>
              <a:t>t</a:t>
            </a:r>
            <a:r>
              <a:rPr spc="-35" dirty="0"/>
              <a:t>i</a:t>
            </a:r>
            <a:r>
              <a:rPr spc="-50" dirty="0"/>
              <a:t>n</a:t>
            </a:r>
            <a:r>
              <a:rPr spc="50" dirty="0"/>
              <a:t>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951230">
              <a:lnSpc>
                <a:spcPct val="100000"/>
              </a:lnSpc>
              <a:spcBef>
                <a:spcPts val="1250"/>
              </a:spcBef>
            </a:pPr>
            <a:r>
              <a:rPr spc="-25" dirty="0"/>
              <a:t>-</a:t>
            </a:r>
            <a:r>
              <a:rPr dirty="0"/>
              <a:t>&gt;</a:t>
            </a:r>
            <a:r>
              <a:rPr spc="-55" dirty="0"/>
              <a:t> </a:t>
            </a:r>
            <a:r>
              <a:rPr dirty="0"/>
              <a:t>We</a:t>
            </a:r>
            <a:r>
              <a:rPr spc="-75" dirty="0"/>
              <a:t> </a:t>
            </a:r>
            <a:r>
              <a:rPr dirty="0"/>
              <a:t>first</a:t>
            </a:r>
            <a:r>
              <a:rPr spc="-25" dirty="0"/>
              <a:t> </a:t>
            </a:r>
            <a:r>
              <a:rPr spc="-10" dirty="0"/>
              <a:t>validated</a:t>
            </a:r>
            <a:r>
              <a:rPr spc="-40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dirty="0"/>
              <a:t>CLIP</a:t>
            </a:r>
            <a:r>
              <a:rPr spc="-65" dirty="0"/>
              <a:t> </a:t>
            </a:r>
            <a:r>
              <a:rPr dirty="0"/>
              <a:t>model</a:t>
            </a:r>
            <a:r>
              <a:rPr spc="-45" dirty="0"/>
              <a:t> </a:t>
            </a:r>
            <a:r>
              <a:rPr dirty="0"/>
              <a:t>by</a:t>
            </a:r>
            <a:r>
              <a:rPr spc="-80" dirty="0"/>
              <a:t> </a:t>
            </a:r>
            <a:r>
              <a:rPr spc="-10" dirty="0"/>
              <a:t>generating</a:t>
            </a:r>
            <a:r>
              <a:rPr spc="-30" dirty="0"/>
              <a:t> </a:t>
            </a:r>
            <a:r>
              <a:rPr dirty="0"/>
              <a:t>embeddings</a:t>
            </a:r>
            <a:r>
              <a:rPr spc="-35" dirty="0"/>
              <a:t> </a:t>
            </a:r>
            <a:r>
              <a:rPr dirty="0"/>
              <a:t>for</a:t>
            </a:r>
            <a:r>
              <a:rPr spc="-65" dirty="0"/>
              <a:t> </a:t>
            </a:r>
            <a:r>
              <a:rPr dirty="0"/>
              <a:t>random</a:t>
            </a:r>
            <a:r>
              <a:rPr spc="-75" dirty="0"/>
              <a:t> </a:t>
            </a:r>
            <a:r>
              <a:rPr dirty="0"/>
              <a:t>product</a:t>
            </a:r>
            <a:r>
              <a:rPr spc="-70" dirty="0"/>
              <a:t> </a:t>
            </a:r>
            <a:r>
              <a:rPr spc="-10" dirty="0"/>
              <a:t>descriptions</a:t>
            </a:r>
          </a:p>
          <a:p>
            <a:pPr marL="951230">
              <a:lnSpc>
                <a:spcPct val="100000"/>
              </a:lnSpc>
              <a:spcBef>
                <a:spcPts val="1150"/>
              </a:spcBef>
            </a:pPr>
            <a:r>
              <a:rPr spc="-30" dirty="0"/>
              <a:t>-</a:t>
            </a:r>
            <a:r>
              <a:rPr dirty="0"/>
              <a:t>&gt;</a:t>
            </a:r>
            <a:r>
              <a:rPr spc="-50" dirty="0"/>
              <a:t> </a:t>
            </a:r>
            <a:r>
              <a:rPr dirty="0"/>
              <a:t>CLIP</a:t>
            </a:r>
            <a:r>
              <a:rPr spc="-55" dirty="0"/>
              <a:t> </a:t>
            </a:r>
            <a:r>
              <a:rPr dirty="0"/>
              <a:t>successfully</a:t>
            </a:r>
            <a:r>
              <a:rPr spc="30" dirty="0"/>
              <a:t> </a:t>
            </a:r>
            <a:r>
              <a:rPr spc="-10" dirty="0"/>
              <a:t>produced</a:t>
            </a:r>
            <a:r>
              <a:rPr spc="-75" dirty="0"/>
              <a:t> </a:t>
            </a:r>
            <a:r>
              <a:rPr dirty="0"/>
              <a:t>embeddings</a:t>
            </a:r>
            <a:r>
              <a:rPr spc="-35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shape </a:t>
            </a:r>
            <a:r>
              <a:rPr b="1" spc="-10" dirty="0">
                <a:latin typeface="Calibri"/>
                <a:cs typeface="Calibri"/>
              </a:rPr>
              <a:t>[5,512]</a:t>
            </a:r>
          </a:p>
          <a:p>
            <a:pPr marL="951230">
              <a:lnSpc>
                <a:spcPct val="100000"/>
              </a:lnSpc>
              <a:spcBef>
                <a:spcPts val="1180"/>
              </a:spcBef>
            </a:pPr>
            <a:r>
              <a:rPr spc="-25" dirty="0"/>
              <a:t>-</a:t>
            </a:r>
            <a:r>
              <a:rPr dirty="0"/>
              <a:t>&gt;</a:t>
            </a:r>
            <a:r>
              <a:rPr spc="-50" dirty="0"/>
              <a:t> </a:t>
            </a:r>
            <a:r>
              <a:rPr spc="-20" dirty="0"/>
              <a:t>Prompt-</a:t>
            </a:r>
            <a:r>
              <a:rPr spc="-25" dirty="0"/>
              <a:t>to-</a:t>
            </a:r>
            <a:r>
              <a:rPr dirty="0"/>
              <a:t>image </a:t>
            </a:r>
            <a:r>
              <a:rPr spc="-10" dirty="0"/>
              <a:t>generation </a:t>
            </a:r>
            <a:r>
              <a:rPr dirty="0"/>
              <a:t>was</a:t>
            </a:r>
            <a:r>
              <a:rPr spc="-45" dirty="0"/>
              <a:t> </a:t>
            </a:r>
            <a:r>
              <a:rPr spc="-10" dirty="0"/>
              <a:t>tested </a:t>
            </a:r>
            <a:r>
              <a:rPr dirty="0"/>
              <a:t>for</a:t>
            </a:r>
            <a:r>
              <a:rPr spc="-60" dirty="0"/>
              <a:t> </a:t>
            </a:r>
            <a:r>
              <a:rPr dirty="0"/>
              <a:t>5</a:t>
            </a:r>
            <a:r>
              <a:rPr spc="-60" dirty="0"/>
              <a:t> </a:t>
            </a:r>
            <a:r>
              <a:rPr dirty="0"/>
              <a:t>random</a:t>
            </a:r>
            <a:r>
              <a:rPr spc="-45" dirty="0"/>
              <a:t> </a:t>
            </a:r>
            <a:r>
              <a:rPr dirty="0"/>
              <a:t>text</a:t>
            </a:r>
            <a:r>
              <a:rPr spc="-60" dirty="0"/>
              <a:t> </a:t>
            </a:r>
            <a:r>
              <a:rPr spc="-10" dirty="0"/>
              <a:t>samples</a:t>
            </a:r>
          </a:p>
          <a:p>
            <a:pPr marL="951230">
              <a:lnSpc>
                <a:spcPts val="2280"/>
              </a:lnSpc>
              <a:spcBef>
                <a:spcPts val="1150"/>
              </a:spcBef>
            </a:pPr>
            <a:r>
              <a:rPr spc="-25" dirty="0"/>
              <a:t>-</a:t>
            </a:r>
            <a:r>
              <a:rPr dirty="0"/>
              <a:t>&gt;</a:t>
            </a:r>
            <a:r>
              <a:rPr spc="-65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initial</a:t>
            </a:r>
            <a:r>
              <a:rPr spc="-55" dirty="0"/>
              <a:t> </a:t>
            </a:r>
            <a:r>
              <a:rPr dirty="0"/>
              <a:t>images</a:t>
            </a:r>
            <a:r>
              <a:rPr spc="-45" dirty="0"/>
              <a:t> </a:t>
            </a:r>
            <a:r>
              <a:rPr dirty="0"/>
              <a:t>confirmed</a:t>
            </a:r>
            <a:r>
              <a:rPr spc="-30" dirty="0"/>
              <a:t> </a:t>
            </a:r>
            <a:r>
              <a:rPr dirty="0"/>
              <a:t>that</a:t>
            </a:r>
            <a:r>
              <a:rPr spc="-75" dirty="0"/>
              <a:t> </a:t>
            </a:r>
            <a:r>
              <a:rPr dirty="0"/>
              <a:t>Stable</a:t>
            </a:r>
            <a:r>
              <a:rPr spc="-65" dirty="0"/>
              <a:t> </a:t>
            </a:r>
            <a:r>
              <a:rPr dirty="0"/>
              <a:t>Diffusion</a:t>
            </a:r>
            <a:r>
              <a:rPr spc="-25" dirty="0"/>
              <a:t> </a:t>
            </a:r>
            <a:r>
              <a:rPr dirty="0"/>
              <a:t>could</a:t>
            </a:r>
            <a:r>
              <a:rPr spc="-75" dirty="0"/>
              <a:t> </a:t>
            </a:r>
            <a:r>
              <a:rPr spc="-10" dirty="0"/>
              <a:t>interpret</a:t>
            </a:r>
            <a:r>
              <a:rPr spc="-50" dirty="0"/>
              <a:t> </a:t>
            </a:r>
            <a:r>
              <a:rPr dirty="0"/>
              <a:t>fashion</a:t>
            </a:r>
            <a:r>
              <a:rPr spc="-50" dirty="0"/>
              <a:t> </a:t>
            </a:r>
            <a:r>
              <a:rPr spc="-10" dirty="0"/>
              <a:t>descriptions,</a:t>
            </a:r>
            <a:r>
              <a:rPr spc="-35" dirty="0"/>
              <a:t> </a:t>
            </a:r>
            <a:r>
              <a:rPr spc="-10" dirty="0"/>
              <a:t>though</a:t>
            </a:r>
          </a:p>
          <a:p>
            <a:pPr marL="951230">
              <a:lnSpc>
                <a:spcPts val="2280"/>
              </a:lnSpc>
            </a:pPr>
            <a:r>
              <a:rPr dirty="0"/>
              <a:t>early</a:t>
            </a:r>
            <a:r>
              <a:rPr spc="-90" dirty="0"/>
              <a:t> </a:t>
            </a:r>
            <a:r>
              <a:rPr dirty="0"/>
              <a:t>results</a:t>
            </a:r>
            <a:r>
              <a:rPr spc="-40" dirty="0"/>
              <a:t> </a:t>
            </a:r>
            <a:r>
              <a:rPr dirty="0"/>
              <a:t>lacked</a:t>
            </a:r>
            <a:r>
              <a:rPr spc="-65" dirty="0"/>
              <a:t> </a:t>
            </a:r>
            <a:r>
              <a:rPr spc="-10" dirty="0"/>
              <a:t>sharpness</a:t>
            </a:r>
          </a:p>
          <a:p>
            <a:pPr marL="951230">
              <a:lnSpc>
                <a:spcPct val="100000"/>
              </a:lnSpc>
              <a:spcBef>
                <a:spcPts val="1155"/>
              </a:spcBef>
            </a:pPr>
            <a:r>
              <a:rPr spc="-25" dirty="0"/>
              <a:t>-</a:t>
            </a:r>
            <a:r>
              <a:rPr dirty="0"/>
              <a:t>&gt;</a:t>
            </a:r>
            <a:r>
              <a:rPr spc="-60" dirty="0"/>
              <a:t> </a:t>
            </a:r>
            <a:r>
              <a:rPr dirty="0"/>
              <a:t>This</a:t>
            </a:r>
            <a:r>
              <a:rPr spc="-60" dirty="0"/>
              <a:t> </a:t>
            </a:r>
            <a:r>
              <a:rPr dirty="0"/>
              <a:t>step</a:t>
            </a:r>
            <a:r>
              <a:rPr spc="-45" dirty="0"/>
              <a:t> </a:t>
            </a:r>
            <a:r>
              <a:rPr dirty="0"/>
              <a:t>verified</a:t>
            </a:r>
            <a:r>
              <a:rPr spc="-5" dirty="0"/>
              <a:t> </a:t>
            </a:r>
            <a:r>
              <a:rPr dirty="0"/>
              <a:t>that</a:t>
            </a:r>
            <a:r>
              <a:rPr spc="-65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10" dirty="0"/>
              <a:t>system</a:t>
            </a:r>
            <a:r>
              <a:rPr spc="-15" dirty="0"/>
              <a:t> </a:t>
            </a:r>
            <a:r>
              <a:rPr dirty="0"/>
              <a:t>was</a:t>
            </a:r>
            <a:r>
              <a:rPr spc="-55" dirty="0"/>
              <a:t> </a:t>
            </a:r>
            <a:r>
              <a:rPr dirty="0"/>
              <a:t>working</a:t>
            </a:r>
            <a:r>
              <a:rPr spc="-75" dirty="0"/>
              <a:t> </a:t>
            </a:r>
            <a:r>
              <a:rPr dirty="0"/>
              <a:t>end-</a:t>
            </a:r>
            <a:r>
              <a:rPr spc="-25" dirty="0"/>
              <a:t>to-end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17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Parameter</a:t>
            </a:r>
            <a:r>
              <a:rPr spc="-220" dirty="0"/>
              <a:t> </a:t>
            </a:r>
            <a:r>
              <a:rPr spc="-95" dirty="0"/>
              <a:t>Tuning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1701241"/>
            <a:ext cx="5076190" cy="4072254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sz="16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ran</a:t>
            </a:r>
            <a:r>
              <a:rPr sz="1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controlled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experiments</a:t>
            </a:r>
            <a:r>
              <a:rPr sz="16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across</a:t>
            </a:r>
            <a:r>
              <a:rPr sz="16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three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parameters:</a:t>
            </a:r>
            <a:endParaRPr sz="1600">
              <a:latin typeface="Calibri"/>
              <a:cs typeface="Calibri"/>
            </a:endParaRPr>
          </a:p>
          <a:p>
            <a:pPr marL="215900" indent="-203200">
              <a:lnSpc>
                <a:spcPct val="100000"/>
              </a:lnSpc>
              <a:spcBef>
                <a:spcPts val="815"/>
              </a:spcBef>
              <a:buAutoNum type="arabicPeriod"/>
              <a:tabLst>
                <a:tab pos="215900" algn="l"/>
              </a:tabLst>
            </a:pPr>
            <a:r>
              <a:rPr sz="1600" b="1" dirty="0">
                <a:solidFill>
                  <a:srgbClr val="404040"/>
                </a:solidFill>
                <a:latin typeface="Calibri"/>
                <a:cs typeface="Calibri"/>
              </a:rPr>
              <a:t>Guidance</a:t>
            </a:r>
            <a:r>
              <a:rPr sz="1600" b="1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404040"/>
                </a:solidFill>
                <a:latin typeface="Calibri"/>
                <a:cs typeface="Calibri"/>
              </a:rPr>
              <a:t>Scale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Values</a:t>
            </a:r>
            <a:r>
              <a:rPr sz="16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tested: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404040"/>
                </a:solidFill>
                <a:latin typeface="Calibri"/>
                <a:cs typeface="Calibri"/>
              </a:rPr>
              <a:t>7.5,</a:t>
            </a:r>
            <a:r>
              <a:rPr sz="1600" b="1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404040"/>
                </a:solidFill>
                <a:latin typeface="Calibri"/>
                <a:cs typeface="Calibri"/>
              </a:rPr>
              <a:t>9.0,</a:t>
            </a:r>
            <a:r>
              <a:rPr sz="1600" b="1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404040"/>
                </a:solidFill>
                <a:latin typeface="Calibri"/>
                <a:cs typeface="Calibri"/>
              </a:rPr>
              <a:t>12.0</a:t>
            </a:r>
            <a:endParaRPr sz="1600">
              <a:latin typeface="Calibri"/>
              <a:cs typeface="Calibri"/>
            </a:endParaRPr>
          </a:p>
          <a:p>
            <a:pPr marL="215900" indent="-203200">
              <a:lnSpc>
                <a:spcPct val="100000"/>
              </a:lnSpc>
              <a:spcBef>
                <a:spcPts val="815"/>
              </a:spcBef>
              <a:buAutoNum type="arabicPeriod" startAt="2"/>
              <a:tabLst>
                <a:tab pos="215900" algn="l"/>
              </a:tabLst>
            </a:pPr>
            <a:r>
              <a:rPr sz="1600" b="1" dirty="0">
                <a:solidFill>
                  <a:srgbClr val="404040"/>
                </a:solidFill>
                <a:latin typeface="Calibri"/>
                <a:cs typeface="Calibri"/>
              </a:rPr>
              <a:t>Number</a:t>
            </a:r>
            <a:r>
              <a:rPr sz="1600" b="1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600" b="1" spc="-20" dirty="0">
                <a:solidFill>
                  <a:srgbClr val="404040"/>
                </a:solidFill>
                <a:latin typeface="Calibri"/>
                <a:cs typeface="Calibri"/>
              </a:rPr>
              <a:t> Steps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Values</a:t>
            </a:r>
            <a:r>
              <a:rPr sz="16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tested:</a:t>
            </a:r>
            <a:r>
              <a:rPr sz="1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404040"/>
                </a:solidFill>
                <a:latin typeface="Calibri"/>
                <a:cs typeface="Calibri"/>
              </a:rPr>
              <a:t>30,</a:t>
            </a:r>
            <a:r>
              <a:rPr sz="1600" b="1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404040"/>
                </a:solidFill>
                <a:latin typeface="Calibri"/>
                <a:cs typeface="Calibri"/>
              </a:rPr>
              <a:t>50</a:t>
            </a:r>
            <a:endParaRPr sz="1600">
              <a:latin typeface="Calibri"/>
              <a:cs typeface="Calibri"/>
            </a:endParaRPr>
          </a:p>
          <a:p>
            <a:pPr marL="215900" indent="-203200">
              <a:lnSpc>
                <a:spcPct val="100000"/>
              </a:lnSpc>
              <a:spcBef>
                <a:spcPts val="840"/>
              </a:spcBef>
              <a:buAutoNum type="arabicPeriod" startAt="3"/>
              <a:tabLst>
                <a:tab pos="215900" algn="l"/>
              </a:tabLst>
            </a:pPr>
            <a:r>
              <a:rPr sz="1600" b="1" spc="-10" dirty="0">
                <a:solidFill>
                  <a:srgbClr val="404040"/>
                </a:solidFill>
                <a:latin typeface="Calibri"/>
                <a:cs typeface="Calibri"/>
              </a:rPr>
              <a:t>Scheduler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600" b="1" spc="-20" dirty="0">
                <a:solidFill>
                  <a:srgbClr val="404040"/>
                </a:solidFill>
                <a:latin typeface="Calibri"/>
                <a:cs typeface="Calibri"/>
              </a:rPr>
              <a:t>Euler,</a:t>
            </a:r>
            <a:r>
              <a:rPr sz="1600" b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404040"/>
                </a:solidFill>
                <a:latin typeface="Calibri"/>
                <a:cs typeface="Calibri"/>
              </a:rPr>
              <a:t>DDIM,</a:t>
            </a:r>
            <a:r>
              <a:rPr sz="1600" b="1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404040"/>
                </a:solidFill>
                <a:latin typeface="Calibri"/>
                <a:cs typeface="Calibri"/>
              </a:rPr>
              <a:t>PNDM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404040"/>
                </a:solidFill>
                <a:latin typeface="Calibri"/>
                <a:cs typeface="Calibri"/>
              </a:rPr>
              <a:t>Observations: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42700"/>
              </a:lnSpc>
              <a:spcBef>
                <a:spcPts val="5"/>
              </a:spcBef>
            </a:pP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Higher</a:t>
            </a:r>
            <a:r>
              <a:rPr sz="16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guidance</a:t>
            </a:r>
            <a:r>
              <a:rPr sz="1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→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sharper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but</a:t>
            </a:r>
            <a:r>
              <a:rPr sz="1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sometimes</a:t>
            </a:r>
            <a:r>
              <a:rPr sz="16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unrealistic</a:t>
            </a:r>
            <a:r>
              <a:rPr sz="1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images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More</a:t>
            </a:r>
            <a:r>
              <a:rPr sz="16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steps</a:t>
            </a:r>
            <a:r>
              <a:rPr sz="16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→</a:t>
            </a:r>
            <a:r>
              <a:rPr sz="16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better</a:t>
            </a:r>
            <a:r>
              <a:rPr sz="16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details</a:t>
            </a:r>
            <a:r>
              <a:rPr sz="1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but</a:t>
            </a:r>
            <a:r>
              <a:rPr sz="16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slower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Euler</a:t>
            </a:r>
            <a:r>
              <a:rPr sz="1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generally</a:t>
            </a:r>
            <a:r>
              <a:rPr sz="16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gave</a:t>
            </a:r>
            <a:r>
              <a:rPr sz="16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best</a:t>
            </a:r>
            <a:r>
              <a:rPr sz="1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CLIP</a:t>
            </a:r>
            <a:r>
              <a:rPr sz="16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scores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25088" y="514553"/>
            <a:ext cx="501777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CLIP</a:t>
            </a:r>
            <a:r>
              <a:rPr spc="-215" dirty="0"/>
              <a:t> </a:t>
            </a:r>
            <a:r>
              <a:rPr spc="-95" dirty="0"/>
              <a:t>Score</a:t>
            </a:r>
            <a:r>
              <a:rPr spc="-220" dirty="0"/>
              <a:t> </a:t>
            </a:r>
            <a:r>
              <a:rPr spc="-85" dirty="0"/>
              <a:t>Evaluation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1687092"/>
            <a:ext cx="8411210" cy="3641725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sz="20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evaluated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alignment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using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CLIP</a:t>
            </a:r>
            <a:r>
              <a:rPr sz="20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across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watch,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shirt,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sweatshirt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categories.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Watch: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Mean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=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0.325</a:t>
            </a:r>
            <a:endParaRPr sz="2000">
              <a:latin typeface="Calibri"/>
              <a:cs typeface="Calibri"/>
            </a:endParaRPr>
          </a:p>
          <a:p>
            <a:pPr marL="12700" marR="5754370">
              <a:lnSpc>
                <a:spcPct val="148100"/>
              </a:lnSpc>
              <a:spcBef>
                <a:spcPts val="25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Shirt: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Mean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=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0.331 Sweatshirt:</a:t>
            </a:r>
            <a:r>
              <a:rPr sz="20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Mean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=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0.355</a:t>
            </a:r>
            <a:endParaRPr sz="2000">
              <a:latin typeface="Calibri"/>
              <a:cs typeface="Calibri"/>
            </a:endParaRPr>
          </a:p>
          <a:p>
            <a:pPr marL="12700" marR="164465">
              <a:lnSpc>
                <a:spcPts val="3579"/>
              </a:lnSpc>
              <a:spcBef>
                <a:spcPts val="285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Range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spanned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0.27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–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0.40,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which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indicates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moderate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but</a:t>
            </a:r>
            <a:r>
              <a:rPr sz="20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consistent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alignment.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Best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CLIP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Scores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came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from: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Guidance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=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12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Scheduler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=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Euler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/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DDIM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192000" cy="6334125"/>
            </a:xfrm>
            <a:custGeom>
              <a:avLst/>
              <a:gdLst/>
              <a:ahLst/>
              <a:cxnLst/>
              <a:rect l="l" t="t" r="r" b="b"/>
              <a:pathLst>
                <a:path w="12192000" h="6334125">
                  <a:moveTo>
                    <a:pt x="0" y="6333744"/>
                  </a:moveTo>
                  <a:lnTo>
                    <a:pt x="12192000" y="6333744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33744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400799"/>
              <a:ext cx="12192000" cy="457200"/>
            </a:xfrm>
            <a:custGeom>
              <a:avLst/>
              <a:gdLst/>
              <a:ahLst/>
              <a:cxnLst/>
              <a:rect l="l" t="t" r="r" b="b"/>
              <a:pathLst>
                <a:path w="12192000" h="457200">
                  <a:moveTo>
                    <a:pt x="12192000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92000" y="45719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DD5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333744"/>
              <a:ext cx="12192000" cy="67310"/>
            </a:xfrm>
            <a:custGeom>
              <a:avLst/>
              <a:gdLst/>
              <a:ahLst/>
              <a:cxnLst/>
              <a:rect l="l" t="t" r="r" b="b"/>
              <a:pathLst>
                <a:path w="12192000" h="67310">
                  <a:moveTo>
                    <a:pt x="12192000" y="0"/>
                  </a:moveTo>
                  <a:lnTo>
                    <a:pt x="0" y="0"/>
                  </a:lnTo>
                  <a:lnTo>
                    <a:pt x="0" y="67055"/>
                  </a:lnTo>
                  <a:lnTo>
                    <a:pt x="12192000" y="6705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84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0" y="0"/>
            <a:ext cx="12192000" cy="6334125"/>
          </a:xfrm>
          <a:custGeom>
            <a:avLst/>
            <a:gdLst/>
            <a:ahLst/>
            <a:cxnLst/>
            <a:rect l="l" t="t" r="r" b="b"/>
            <a:pathLst>
              <a:path w="12192000" h="6334125">
                <a:moveTo>
                  <a:pt x="12192000" y="0"/>
                </a:moveTo>
                <a:lnTo>
                  <a:pt x="0" y="0"/>
                </a:lnTo>
                <a:lnTo>
                  <a:pt x="0" y="6333744"/>
                </a:lnTo>
                <a:lnTo>
                  <a:pt x="12192000" y="6333744"/>
                </a:lnTo>
                <a:lnTo>
                  <a:pt x="12192000" y="0"/>
                </a:lnTo>
                <a:close/>
              </a:path>
            </a:pathLst>
          </a:custGeom>
          <a:solidFill>
            <a:srgbClr val="EDEB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870572" y="640791"/>
            <a:ext cx="4224655" cy="1379855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68730" marR="5080" indent="-1256665">
              <a:lnSpc>
                <a:spcPts val="4900"/>
              </a:lnSpc>
              <a:spcBef>
                <a:spcPts val="980"/>
              </a:spcBef>
            </a:pPr>
            <a:r>
              <a:rPr spc="-530" dirty="0"/>
              <a:t>T</a:t>
            </a:r>
            <a:r>
              <a:rPr spc="-80" dirty="0"/>
              <a:t>o</a:t>
            </a:r>
            <a:r>
              <a:rPr spc="-20" dirty="0"/>
              <a:t>p</a:t>
            </a:r>
            <a:r>
              <a:rPr spc="-240" dirty="0"/>
              <a:t> </a:t>
            </a:r>
            <a:r>
              <a:rPr spc="-50" dirty="0"/>
              <a:t>10</a:t>
            </a:r>
            <a:r>
              <a:rPr spc="-204" dirty="0"/>
              <a:t> </a:t>
            </a:r>
            <a:r>
              <a:rPr spc="-95" dirty="0"/>
              <a:t>Generated </a:t>
            </a:r>
            <a:r>
              <a:rPr spc="-10" dirty="0"/>
              <a:t>Images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685800" y="646176"/>
            <a:ext cx="10476230" cy="5245735"/>
            <a:chOff x="685800" y="646176"/>
            <a:chExt cx="10476230" cy="524573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0" y="646176"/>
              <a:ext cx="5367528" cy="524560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412991" y="2084831"/>
              <a:ext cx="4749165" cy="0"/>
            </a:xfrm>
            <a:custGeom>
              <a:avLst/>
              <a:gdLst/>
              <a:ahLst/>
              <a:cxnLst/>
              <a:rect l="l" t="t" r="r" b="b"/>
              <a:pathLst>
                <a:path w="4749165">
                  <a:moveTo>
                    <a:pt x="0" y="0"/>
                  </a:moveTo>
                  <a:lnTo>
                    <a:pt x="4748784" y="0"/>
                  </a:lnTo>
                </a:path>
              </a:pathLst>
            </a:custGeom>
            <a:ln w="609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491985" y="2461336"/>
            <a:ext cx="4892675" cy="3058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95"/>
              </a:spcBef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sz="20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selected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404040"/>
                </a:solidFill>
                <a:latin typeface="Calibri"/>
                <a:cs typeface="Calibri"/>
              </a:rPr>
              <a:t>top-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scoring</a:t>
            </a:r>
            <a:r>
              <a:rPr sz="2000" b="1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images</a:t>
            </a:r>
            <a:r>
              <a:rPr sz="2000" b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based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CLIP</a:t>
            </a:r>
            <a:r>
              <a:rPr sz="20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Score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(Page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33–34).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280"/>
              </a:lnSpc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Examples</a:t>
            </a:r>
            <a:r>
              <a:rPr sz="20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include: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2000" i="1" spc="-10" dirty="0">
                <a:solidFill>
                  <a:srgbClr val="404040"/>
                </a:solidFill>
                <a:latin typeface="Calibri"/>
                <a:cs typeface="Calibri"/>
              </a:rPr>
              <a:t>sweatshirt_g12_s50_DDIM.png</a:t>
            </a:r>
            <a:r>
              <a:rPr sz="2000" i="1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→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Score: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0.401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2000" i="1" spc="-20" dirty="0">
                <a:solidFill>
                  <a:srgbClr val="404040"/>
                </a:solidFill>
                <a:latin typeface="Calibri"/>
                <a:cs typeface="Calibri"/>
              </a:rPr>
              <a:t>watch_g12_s30_Euler.png</a:t>
            </a:r>
            <a:r>
              <a:rPr sz="2000" i="1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→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Score: </a:t>
            </a: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0.396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280"/>
              </a:lnSpc>
              <a:spcBef>
                <a:spcPts val="1150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These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images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showed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best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prompt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alignment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detail</a:t>
            </a:r>
            <a:r>
              <a:rPr sz="20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clarity.</a:t>
            </a:r>
            <a:endParaRPr sz="2000">
              <a:latin typeface="Calibri"/>
              <a:cs typeface="Calibri"/>
            </a:endParaRPr>
          </a:p>
          <a:p>
            <a:pPr marL="12700" marR="751205">
              <a:lnSpc>
                <a:spcPts val="2160"/>
              </a:lnSpc>
              <a:spcBef>
                <a:spcPts val="155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10-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image visual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grid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was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produced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for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comparison.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6400799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DD5F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562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Creating</a:t>
            </a:r>
            <a:r>
              <a:rPr spc="-204" dirty="0"/>
              <a:t> </a:t>
            </a:r>
            <a:r>
              <a:rPr spc="-105" dirty="0"/>
              <a:t>Real</a:t>
            </a:r>
            <a:r>
              <a:rPr spc="-195" dirty="0"/>
              <a:t> </a:t>
            </a:r>
            <a:r>
              <a:rPr spc="-95" dirty="0"/>
              <a:t>Image</a:t>
            </a:r>
            <a:r>
              <a:rPr spc="-229" dirty="0"/>
              <a:t> </a:t>
            </a:r>
            <a:r>
              <a:rPr spc="-65" dirty="0"/>
              <a:t>Set</a:t>
            </a:r>
            <a:r>
              <a:rPr spc="-185" dirty="0"/>
              <a:t> </a:t>
            </a:r>
            <a:r>
              <a:rPr spc="-85" dirty="0"/>
              <a:t>for</a:t>
            </a:r>
            <a:r>
              <a:rPr spc="-210" dirty="0"/>
              <a:t> </a:t>
            </a:r>
            <a:r>
              <a:rPr spc="-25" dirty="0"/>
              <a:t>FID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884" y="1834133"/>
            <a:ext cx="8849995" cy="24117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71145" indent="-258445">
              <a:lnSpc>
                <a:spcPts val="2280"/>
              </a:lnSpc>
              <a:spcBef>
                <a:spcPts val="90"/>
              </a:spcBef>
              <a:buClr>
                <a:srgbClr val="E84B21"/>
              </a:buClr>
              <a:buFont typeface="Wingdings"/>
              <a:buChar char=""/>
              <a:tabLst>
                <a:tab pos="271145" algn="l"/>
              </a:tabLst>
            </a:pPr>
            <a:r>
              <a:rPr sz="2000" spc="-1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compute</a:t>
            </a:r>
            <a:r>
              <a:rPr sz="20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FID,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created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folder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300</a:t>
            </a:r>
            <a:r>
              <a:rPr sz="2000" b="1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real</a:t>
            </a:r>
            <a:r>
              <a:rPr sz="2000" b="1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images</a:t>
            </a:r>
            <a:r>
              <a:rPr sz="2000" b="1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taken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dataset.</a:t>
            </a:r>
            <a:endParaRPr sz="2000">
              <a:latin typeface="Calibri"/>
              <a:cs typeface="Calibri"/>
            </a:endParaRPr>
          </a:p>
          <a:p>
            <a:pPr marL="103505">
              <a:lnSpc>
                <a:spcPts val="2280"/>
              </a:lnSpc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(This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ensured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consistent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reference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point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0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calculating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sample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distribution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quality)</a:t>
            </a:r>
            <a:endParaRPr sz="2000">
              <a:latin typeface="Calibri"/>
              <a:cs typeface="Calibri"/>
            </a:endParaRPr>
          </a:p>
          <a:p>
            <a:pPr marL="271145" indent="-258445">
              <a:lnSpc>
                <a:spcPct val="100000"/>
              </a:lnSpc>
              <a:spcBef>
                <a:spcPts val="1155"/>
              </a:spcBef>
              <a:buClr>
                <a:srgbClr val="E84B21"/>
              </a:buClr>
              <a:buFont typeface="Wingdings"/>
              <a:buChar char=""/>
              <a:tabLst>
                <a:tab pos="27114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also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follows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proper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FID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evaluation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pipeline:</a:t>
            </a:r>
            <a:endParaRPr sz="2000">
              <a:latin typeface="Calibri"/>
              <a:cs typeface="Calibri"/>
            </a:endParaRPr>
          </a:p>
          <a:p>
            <a:pPr marL="271145" indent="-258445">
              <a:lnSpc>
                <a:spcPct val="100000"/>
              </a:lnSpc>
              <a:spcBef>
                <a:spcPts val="1180"/>
              </a:spcBef>
              <a:buClr>
                <a:srgbClr val="E84B21"/>
              </a:buClr>
              <a:buFont typeface="Wingdings"/>
              <a:buChar char=""/>
              <a:tabLst>
                <a:tab pos="27114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Real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distribution</a:t>
            </a:r>
            <a:endParaRPr sz="2000">
              <a:latin typeface="Calibri"/>
              <a:cs typeface="Calibri"/>
            </a:endParaRPr>
          </a:p>
          <a:p>
            <a:pPr marL="271145" indent="-258445">
              <a:lnSpc>
                <a:spcPct val="100000"/>
              </a:lnSpc>
              <a:spcBef>
                <a:spcPts val="1150"/>
              </a:spcBef>
              <a:buClr>
                <a:srgbClr val="E84B21"/>
              </a:buClr>
              <a:buFont typeface="Wingdings"/>
              <a:buChar char=""/>
              <a:tabLst>
                <a:tab pos="271145" algn="l"/>
              </a:tabLst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Generated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distribution</a:t>
            </a:r>
            <a:endParaRPr sz="2000">
              <a:latin typeface="Calibri"/>
              <a:cs typeface="Calibri"/>
            </a:endParaRPr>
          </a:p>
          <a:p>
            <a:pPr marL="271145" indent="-258445">
              <a:lnSpc>
                <a:spcPct val="100000"/>
              </a:lnSpc>
              <a:spcBef>
                <a:spcPts val="1155"/>
              </a:spcBef>
              <a:buClr>
                <a:srgbClr val="E84B21"/>
              </a:buClr>
              <a:buFont typeface="Wingdings"/>
              <a:buChar char=""/>
              <a:tabLst>
                <a:tab pos="271145" algn="l"/>
              </a:tabLst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Feature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embedding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comparison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0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Inception</a:t>
            </a:r>
            <a:r>
              <a:rPr sz="20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space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97655" y="532841"/>
            <a:ext cx="507238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Final</a:t>
            </a:r>
            <a:r>
              <a:rPr spc="-170" dirty="0"/>
              <a:t> </a:t>
            </a:r>
            <a:r>
              <a:rPr spc="-95" dirty="0"/>
              <a:t>Model</a:t>
            </a:r>
            <a:r>
              <a:rPr spc="-165" dirty="0"/>
              <a:t> </a:t>
            </a:r>
            <a:r>
              <a:rPr spc="-45" dirty="0"/>
              <a:t>Selection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951230">
              <a:lnSpc>
                <a:spcPct val="100000"/>
              </a:lnSpc>
              <a:spcBef>
                <a:spcPts val="1250"/>
              </a:spcBef>
            </a:pPr>
            <a:r>
              <a:rPr dirty="0"/>
              <a:t>Guidance</a:t>
            </a:r>
            <a:r>
              <a:rPr spc="-60" dirty="0"/>
              <a:t> </a:t>
            </a:r>
            <a:r>
              <a:rPr dirty="0"/>
              <a:t>Scale:</a:t>
            </a:r>
            <a:r>
              <a:rPr spc="-5" dirty="0"/>
              <a:t> </a:t>
            </a:r>
            <a:r>
              <a:rPr b="1" spc="-25" dirty="0">
                <a:latin typeface="Calibri"/>
                <a:cs typeface="Calibri"/>
              </a:rPr>
              <a:t>9.0</a:t>
            </a:r>
          </a:p>
          <a:p>
            <a:pPr marL="951230">
              <a:lnSpc>
                <a:spcPts val="2280"/>
              </a:lnSpc>
              <a:spcBef>
                <a:spcPts val="1150"/>
              </a:spcBef>
            </a:pPr>
            <a:r>
              <a:rPr dirty="0"/>
              <a:t>Steps:</a:t>
            </a:r>
            <a:r>
              <a:rPr spc="-45" dirty="0"/>
              <a:t> </a:t>
            </a:r>
            <a:r>
              <a:rPr b="1" spc="-25" dirty="0">
                <a:latin typeface="Calibri"/>
                <a:cs typeface="Calibri"/>
              </a:rPr>
              <a:t>50</a:t>
            </a:r>
          </a:p>
          <a:p>
            <a:pPr marL="951230">
              <a:lnSpc>
                <a:spcPts val="2280"/>
              </a:lnSpc>
            </a:pPr>
            <a:r>
              <a:rPr dirty="0"/>
              <a:t>This</a:t>
            </a:r>
            <a:r>
              <a:rPr spc="-60" dirty="0"/>
              <a:t> </a:t>
            </a:r>
            <a:r>
              <a:rPr spc="-10" dirty="0"/>
              <a:t>configuration</a:t>
            </a:r>
            <a:r>
              <a:rPr spc="-45" dirty="0"/>
              <a:t> </a:t>
            </a:r>
            <a:r>
              <a:rPr spc="-10" dirty="0"/>
              <a:t>gave</a:t>
            </a:r>
            <a:r>
              <a:rPr spc="-55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best</a:t>
            </a:r>
            <a:r>
              <a:rPr spc="-45" dirty="0"/>
              <a:t> </a:t>
            </a:r>
            <a:r>
              <a:rPr dirty="0"/>
              <a:t>balance</a:t>
            </a:r>
            <a:r>
              <a:rPr spc="-55" dirty="0"/>
              <a:t> </a:t>
            </a:r>
            <a:r>
              <a:rPr dirty="0"/>
              <a:t>between</a:t>
            </a:r>
            <a:r>
              <a:rPr spc="-40" dirty="0"/>
              <a:t> </a:t>
            </a:r>
            <a:r>
              <a:rPr spc="-10" dirty="0"/>
              <a:t>clarity,</a:t>
            </a:r>
            <a:r>
              <a:rPr spc="-45" dirty="0"/>
              <a:t> </a:t>
            </a:r>
            <a:r>
              <a:rPr spc="-20" dirty="0"/>
              <a:t>accuracy,</a:t>
            </a:r>
            <a:r>
              <a:rPr spc="-45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spc="-10" dirty="0"/>
              <a:t>computational</a:t>
            </a:r>
            <a:r>
              <a:rPr spc="-40" dirty="0"/>
              <a:t> </a:t>
            </a:r>
            <a:r>
              <a:rPr spc="-10" dirty="0"/>
              <a:t>cost.</a:t>
            </a:r>
          </a:p>
          <a:p>
            <a:pPr marL="951230">
              <a:lnSpc>
                <a:spcPct val="100000"/>
              </a:lnSpc>
              <a:spcBef>
                <a:spcPts val="1180"/>
              </a:spcBef>
            </a:pPr>
            <a:r>
              <a:rPr dirty="0"/>
              <a:t>Scheduler:</a:t>
            </a:r>
            <a:r>
              <a:rPr spc="-55" dirty="0"/>
              <a:t> </a:t>
            </a:r>
            <a:r>
              <a:rPr b="1" spc="-10" dirty="0">
                <a:latin typeface="Calibri"/>
                <a:cs typeface="Calibri"/>
              </a:rPr>
              <a:t>Euler</a:t>
            </a:r>
          </a:p>
          <a:p>
            <a:pPr marL="951230">
              <a:lnSpc>
                <a:spcPct val="100000"/>
              </a:lnSpc>
              <a:spcBef>
                <a:spcPts val="1150"/>
              </a:spcBef>
            </a:pPr>
            <a:r>
              <a:rPr b="1" dirty="0">
                <a:latin typeface="Calibri"/>
                <a:cs typeface="Calibri"/>
              </a:rPr>
              <a:t>Why</a:t>
            </a:r>
            <a:r>
              <a:rPr b="1" spc="-7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Stable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Diffusion?</a:t>
            </a:r>
          </a:p>
          <a:p>
            <a:pPr marL="951230">
              <a:lnSpc>
                <a:spcPct val="100000"/>
              </a:lnSpc>
              <a:spcBef>
                <a:spcPts val="1155"/>
              </a:spcBef>
            </a:pPr>
            <a:r>
              <a:rPr spc="-25" dirty="0"/>
              <a:t>-</a:t>
            </a:r>
            <a:r>
              <a:rPr dirty="0"/>
              <a:t>&gt;</a:t>
            </a:r>
            <a:r>
              <a:rPr spc="360" dirty="0"/>
              <a:t> </a:t>
            </a:r>
            <a:r>
              <a:rPr dirty="0"/>
              <a:t>24%</a:t>
            </a:r>
            <a:r>
              <a:rPr spc="-65" dirty="0"/>
              <a:t> </a:t>
            </a:r>
            <a:r>
              <a:rPr dirty="0"/>
              <a:t>faster</a:t>
            </a:r>
            <a:r>
              <a:rPr spc="15" dirty="0"/>
              <a:t> </a:t>
            </a:r>
            <a:r>
              <a:rPr spc="-10" dirty="0"/>
              <a:t>generation</a:t>
            </a:r>
          </a:p>
          <a:p>
            <a:pPr marL="951230">
              <a:lnSpc>
                <a:spcPct val="100000"/>
              </a:lnSpc>
              <a:spcBef>
                <a:spcPts val="1180"/>
              </a:spcBef>
            </a:pPr>
            <a:r>
              <a:rPr spc="-25" dirty="0"/>
              <a:t>-</a:t>
            </a:r>
            <a:r>
              <a:rPr dirty="0"/>
              <a:t>&gt;</a:t>
            </a:r>
            <a:r>
              <a:rPr spc="360" dirty="0"/>
              <a:t> </a:t>
            </a:r>
            <a:r>
              <a:rPr dirty="0"/>
              <a:t>Better</a:t>
            </a:r>
            <a:r>
              <a:rPr spc="-30" dirty="0"/>
              <a:t> </a:t>
            </a:r>
            <a:r>
              <a:rPr dirty="0"/>
              <a:t>FID</a:t>
            </a:r>
            <a:r>
              <a:rPr spc="-55" dirty="0"/>
              <a:t> </a:t>
            </a:r>
            <a:r>
              <a:rPr dirty="0"/>
              <a:t>score</a:t>
            </a:r>
            <a:r>
              <a:rPr spc="-15" dirty="0"/>
              <a:t> </a:t>
            </a:r>
            <a:r>
              <a:rPr spc="-10" dirty="0"/>
              <a:t>(185.22)</a:t>
            </a:r>
          </a:p>
          <a:p>
            <a:pPr marL="951230">
              <a:lnSpc>
                <a:spcPct val="100000"/>
              </a:lnSpc>
              <a:spcBef>
                <a:spcPts val="1150"/>
              </a:spcBef>
            </a:pPr>
            <a:r>
              <a:rPr spc="-30" dirty="0"/>
              <a:t>-</a:t>
            </a:r>
            <a:r>
              <a:rPr dirty="0"/>
              <a:t>&gt;</a:t>
            </a:r>
            <a:r>
              <a:rPr spc="365" dirty="0"/>
              <a:t> </a:t>
            </a:r>
            <a:r>
              <a:rPr dirty="0"/>
              <a:t>More</a:t>
            </a:r>
            <a:r>
              <a:rPr spc="-60" dirty="0"/>
              <a:t> </a:t>
            </a:r>
            <a:r>
              <a:rPr spc="-10" dirty="0"/>
              <a:t>consistent</a:t>
            </a:r>
            <a:r>
              <a:rPr spc="20" dirty="0"/>
              <a:t> </a:t>
            </a:r>
            <a:r>
              <a:rPr spc="-10" dirty="0"/>
              <a:t>results</a:t>
            </a:r>
          </a:p>
          <a:p>
            <a:pPr marL="951230">
              <a:lnSpc>
                <a:spcPct val="100000"/>
              </a:lnSpc>
              <a:spcBef>
                <a:spcPts val="1155"/>
              </a:spcBef>
            </a:pPr>
            <a:r>
              <a:rPr spc="-25" dirty="0"/>
              <a:t>-</a:t>
            </a:r>
            <a:r>
              <a:rPr dirty="0"/>
              <a:t>&gt;</a:t>
            </a:r>
            <a:r>
              <a:rPr spc="370" dirty="0"/>
              <a:t> </a:t>
            </a:r>
            <a:r>
              <a:rPr dirty="0"/>
              <a:t>Extensive</a:t>
            </a:r>
            <a:r>
              <a:rPr spc="-5" dirty="0"/>
              <a:t> </a:t>
            </a:r>
            <a:r>
              <a:rPr dirty="0"/>
              <a:t>tuning</a:t>
            </a:r>
            <a:r>
              <a:rPr spc="-50" dirty="0"/>
              <a:t> </a:t>
            </a:r>
            <a:r>
              <a:rPr spc="-20" dirty="0"/>
              <a:t>data</a:t>
            </a:r>
          </a:p>
          <a:p>
            <a:pPr marL="951230">
              <a:lnSpc>
                <a:spcPct val="100000"/>
              </a:lnSpc>
              <a:spcBef>
                <a:spcPts val="1180"/>
              </a:spcBef>
            </a:pPr>
            <a:r>
              <a:rPr spc="-25" dirty="0"/>
              <a:t>-</a:t>
            </a:r>
            <a:r>
              <a:rPr dirty="0"/>
              <a:t>&gt;</a:t>
            </a:r>
            <a:r>
              <a:rPr spc="395" dirty="0"/>
              <a:t> </a:t>
            </a:r>
            <a:r>
              <a:rPr dirty="0"/>
              <a:t>CLIP</a:t>
            </a:r>
            <a:r>
              <a:rPr spc="-30" dirty="0"/>
              <a:t> </a:t>
            </a:r>
            <a:r>
              <a:rPr spc="-10" dirty="0"/>
              <a:t>difference</a:t>
            </a:r>
            <a:r>
              <a:rPr spc="20" dirty="0"/>
              <a:t> </a:t>
            </a:r>
            <a:r>
              <a:rPr dirty="0"/>
              <a:t>not</a:t>
            </a:r>
            <a:r>
              <a:rPr spc="-50" dirty="0"/>
              <a:t> </a:t>
            </a:r>
            <a:r>
              <a:rPr spc="-10" dirty="0"/>
              <a:t>significant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53232" y="639013"/>
            <a:ext cx="576453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Final</a:t>
            </a:r>
            <a:r>
              <a:rPr spc="-175" dirty="0"/>
              <a:t> </a:t>
            </a:r>
            <a:r>
              <a:rPr spc="-100" dirty="0"/>
              <a:t>Sample</a:t>
            </a:r>
            <a:r>
              <a:rPr spc="-210" dirty="0"/>
              <a:t> </a:t>
            </a:r>
            <a:r>
              <a:rPr spc="-70" dirty="0"/>
              <a:t>Generation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884" y="1834133"/>
            <a:ext cx="5068570" cy="37141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Using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final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configuration,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generated:</a:t>
            </a:r>
            <a:endParaRPr sz="2000">
              <a:latin typeface="Calibri"/>
              <a:cs typeface="Calibri"/>
            </a:endParaRPr>
          </a:p>
          <a:p>
            <a:pPr marL="103505">
              <a:lnSpc>
                <a:spcPct val="100000"/>
              </a:lnSpc>
              <a:spcBef>
                <a:spcPts val="1510"/>
              </a:spcBef>
            </a:pPr>
            <a:r>
              <a:rPr sz="2000" dirty="0">
                <a:solidFill>
                  <a:srgbClr val="404040"/>
                </a:solidFill>
                <a:latin typeface="Segoe UI Symbol"/>
                <a:cs typeface="Segoe UI Symbol"/>
              </a:rPr>
              <a:t>✔</a:t>
            </a:r>
            <a:r>
              <a:rPr sz="2000" spc="-140" dirty="0">
                <a:solidFill>
                  <a:srgbClr val="404040"/>
                </a:solidFill>
                <a:latin typeface="Segoe UI Symbol"/>
                <a:cs typeface="Segoe UI Symbo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50</a:t>
            </a:r>
            <a:r>
              <a:rPr sz="2000" b="1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large</a:t>
            </a:r>
            <a:r>
              <a:rPr sz="2000" b="1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samples</a:t>
            </a:r>
            <a:r>
              <a:rPr sz="2000" b="1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(prompts</a:t>
            </a:r>
            <a:r>
              <a:rPr sz="20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repeated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5×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each)</a:t>
            </a:r>
            <a:endParaRPr sz="2000">
              <a:latin typeface="Calibri"/>
              <a:cs typeface="Calibri"/>
            </a:endParaRPr>
          </a:p>
          <a:p>
            <a:pPr marL="103505">
              <a:lnSpc>
                <a:spcPct val="100000"/>
              </a:lnSpc>
              <a:spcBef>
                <a:spcPts val="245"/>
              </a:spcBef>
            </a:pPr>
            <a:r>
              <a:rPr sz="2000" dirty="0">
                <a:solidFill>
                  <a:srgbClr val="404040"/>
                </a:solidFill>
                <a:latin typeface="Segoe UI Symbol"/>
                <a:cs typeface="Segoe UI Symbol"/>
              </a:rPr>
              <a:t>✔</a:t>
            </a:r>
            <a:r>
              <a:rPr sz="2000" spc="-140" dirty="0">
                <a:solidFill>
                  <a:srgbClr val="404040"/>
                </a:solidFill>
                <a:latin typeface="Segoe UI Symbol"/>
                <a:cs typeface="Segoe UI Symbol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Stored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final_samples_large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15"/>
              </a:spcBef>
            </a:pPr>
            <a:endParaRPr sz="2000">
              <a:latin typeface="Calibri"/>
              <a:cs typeface="Calibri"/>
            </a:endParaRPr>
          </a:p>
          <a:p>
            <a:pPr marL="103505">
              <a:lnSpc>
                <a:spcPct val="100000"/>
              </a:lnSpc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Prompts</a:t>
            </a:r>
            <a:r>
              <a:rPr sz="20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included:</a:t>
            </a:r>
            <a:endParaRPr sz="2000">
              <a:latin typeface="Calibri"/>
              <a:cs typeface="Calibri"/>
            </a:endParaRPr>
          </a:p>
          <a:p>
            <a:pPr marL="103505">
              <a:lnSpc>
                <a:spcPct val="100000"/>
              </a:lnSpc>
              <a:spcBef>
                <a:spcPts val="1155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“women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red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leather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handbag”</a:t>
            </a:r>
            <a:endParaRPr sz="2000">
              <a:latin typeface="Calibri"/>
              <a:cs typeface="Calibri"/>
            </a:endParaRPr>
          </a:p>
          <a:p>
            <a:pPr marL="103505" marR="1657985">
              <a:lnSpc>
                <a:spcPts val="3579"/>
              </a:lnSpc>
              <a:spcBef>
                <a:spcPts val="290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“white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cotton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kurta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women”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“adidas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mens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fire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grey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t-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shirt”</a:t>
            </a:r>
            <a:endParaRPr sz="2000">
              <a:latin typeface="Calibri"/>
              <a:cs typeface="Calibri"/>
            </a:endParaRPr>
          </a:p>
          <a:p>
            <a:pPr marL="103505">
              <a:lnSpc>
                <a:spcPct val="100000"/>
              </a:lnSpc>
              <a:spcBef>
                <a:spcPts val="835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“black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running</a:t>
            </a:r>
            <a:r>
              <a:rPr sz="20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shoes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white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sole”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4945" y="470357"/>
            <a:ext cx="7798434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Evaluation:</a:t>
            </a:r>
            <a:r>
              <a:rPr spc="-190" dirty="0"/>
              <a:t> </a:t>
            </a:r>
            <a:r>
              <a:rPr spc="-55" dirty="0"/>
              <a:t>FID</a:t>
            </a:r>
            <a:r>
              <a:rPr spc="-210" dirty="0"/>
              <a:t> </a:t>
            </a:r>
            <a:r>
              <a:rPr dirty="0"/>
              <a:t>&amp;</a:t>
            </a:r>
            <a:r>
              <a:rPr spc="-150" dirty="0"/>
              <a:t> </a:t>
            </a:r>
            <a:r>
              <a:rPr spc="-90" dirty="0"/>
              <a:t>Inception</a:t>
            </a:r>
            <a:r>
              <a:rPr spc="-225" dirty="0"/>
              <a:t> </a:t>
            </a:r>
            <a:r>
              <a:rPr spc="-10" dirty="0"/>
              <a:t>Score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951230">
              <a:lnSpc>
                <a:spcPct val="100000"/>
              </a:lnSpc>
              <a:spcBef>
                <a:spcPts val="1250"/>
              </a:spcBef>
            </a:pPr>
            <a:r>
              <a:rPr b="1" dirty="0">
                <a:latin typeface="Calibri"/>
                <a:cs typeface="Calibri"/>
              </a:rPr>
              <a:t>FID</a:t>
            </a:r>
            <a:r>
              <a:rPr b="1" spc="-5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Score</a:t>
            </a:r>
            <a:r>
              <a:rPr b="1" spc="-8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(final</a:t>
            </a:r>
            <a:r>
              <a:rPr b="1" spc="-5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large</a:t>
            </a:r>
            <a:r>
              <a:rPr b="1" spc="-40" dirty="0">
                <a:latin typeface="Calibri"/>
                <a:cs typeface="Calibri"/>
              </a:rPr>
              <a:t> </a:t>
            </a:r>
            <a:r>
              <a:rPr b="1" spc="-20" dirty="0">
                <a:latin typeface="Calibri"/>
                <a:cs typeface="Calibri"/>
              </a:rPr>
              <a:t>set):</a:t>
            </a:r>
          </a:p>
          <a:p>
            <a:pPr marL="951230">
              <a:lnSpc>
                <a:spcPct val="100000"/>
              </a:lnSpc>
              <a:spcBef>
                <a:spcPts val="1150"/>
              </a:spcBef>
            </a:pPr>
            <a:r>
              <a:rPr b="1" dirty="0">
                <a:latin typeface="Calibri"/>
                <a:cs typeface="Calibri"/>
              </a:rPr>
              <a:t>185.21</a:t>
            </a:r>
            <a:r>
              <a:rPr b="1" spc="-85" dirty="0">
                <a:latin typeface="Calibri"/>
                <a:cs typeface="Calibri"/>
              </a:rPr>
              <a:t> </a:t>
            </a:r>
            <a:r>
              <a:rPr dirty="0"/>
              <a:t>(first</a:t>
            </a:r>
            <a:r>
              <a:rPr spc="-65" dirty="0"/>
              <a:t> </a:t>
            </a:r>
            <a:r>
              <a:rPr spc="-10" dirty="0"/>
              <a:t>evaluation)</a:t>
            </a:r>
          </a:p>
          <a:p>
            <a:pPr marL="951230">
              <a:lnSpc>
                <a:spcPct val="100000"/>
              </a:lnSpc>
              <a:spcBef>
                <a:spcPts val="1180"/>
              </a:spcBef>
            </a:pPr>
            <a:r>
              <a:rPr b="1" dirty="0">
                <a:latin typeface="Calibri"/>
                <a:cs typeface="Calibri"/>
              </a:rPr>
              <a:t>294.72</a:t>
            </a:r>
            <a:r>
              <a:rPr b="1" spc="-70" dirty="0">
                <a:latin typeface="Calibri"/>
                <a:cs typeface="Calibri"/>
              </a:rPr>
              <a:t> </a:t>
            </a:r>
            <a:r>
              <a:rPr dirty="0"/>
              <a:t>(second</a:t>
            </a:r>
            <a:r>
              <a:rPr spc="-40" dirty="0"/>
              <a:t> </a:t>
            </a:r>
            <a:r>
              <a:rPr spc="-10" dirty="0"/>
              <a:t>evaluation</a:t>
            </a:r>
            <a:r>
              <a:rPr spc="-85" dirty="0"/>
              <a:t> </a:t>
            </a:r>
            <a:r>
              <a:rPr dirty="0"/>
              <a:t>with</a:t>
            </a:r>
            <a:r>
              <a:rPr spc="-60" dirty="0"/>
              <a:t> </a:t>
            </a:r>
            <a:r>
              <a:rPr spc="-10" dirty="0"/>
              <a:t>different</a:t>
            </a:r>
            <a:r>
              <a:rPr spc="-45" dirty="0"/>
              <a:t> </a:t>
            </a:r>
            <a:r>
              <a:rPr spc="-10" dirty="0"/>
              <a:t>samples)</a:t>
            </a:r>
          </a:p>
          <a:p>
            <a:pPr marL="951230">
              <a:lnSpc>
                <a:spcPts val="2280"/>
              </a:lnSpc>
              <a:spcBef>
                <a:spcPts val="1150"/>
              </a:spcBef>
            </a:pPr>
            <a:r>
              <a:rPr dirty="0"/>
              <a:t>This</a:t>
            </a:r>
            <a:r>
              <a:rPr spc="-75" dirty="0"/>
              <a:t> </a:t>
            </a:r>
            <a:r>
              <a:rPr dirty="0"/>
              <a:t>indicates</a:t>
            </a:r>
            <a:r>
              <a:rPr spc="-30" dirty="0"/>
              <a:t> </a:t>
            </a:r>
            <a:r>
              <a:rPr dirty="0"/>
              <a:t>room</a:t>
            </a:r>
            <a:r>
              <a:rPr spc="-90" dirty="0"/>
              <a:t> </a:t>
            </a:r>
            <a:r>
              <a:rPr dirty="0"/>
              <a:t>for</a:t>
            </a:r>
            <a:r>
              <a:rPr spc="-80" dirty="0"/>
              <a:t> </a:t>
            </a:r>
            <a:r>
              <a:rPr spc="-10" dirty="0"/>
              <a:t>improvement;</a:t>
            </a:r>
            <a:r>
              <a:rPr spc="-20" dirty="0"/>
              <a:t> </a:t>
            </a:r>
            <a:r>
              <a:rPr dirty="0"/>
              <a:t>images</a:t>
            </a:r>
            <a:r>
              <a:rPr spc="-50" dirty="0"/>
              <a:t> </a:t>
            </a:r>
            <a:r>
              <a:rPr dirty="0"/>
              <a:t>are</a:t>
            </a:r>
            <a:r>
              <a:rPr spc="-70" dirty="0"/>
              <a:t> </a:t>
            </a:r>
            <a:r>
              <a:rPr dirty="0"/>
              <a:t>meaningful</a:t>
            </a:r>
            <a:r>
              <a:rPr spc="-45" dirty="0"/>
              <a:t> </a:t>
            </a:r>
            <a:r>
              <a:rPr dirty="0"/>
              <a:t>but</a:t>
            </a:r>
            <a:r>
              <a:rPr spc="-95" dirty="0"/>
              <a:t> </a:t>
            </a:r>
            <a:r>
              <a:rPr dirty="0"/>
              <a:t>visually</a:t>
            </a:r>
            <a:r>
              <a:rPr spc="-50" dirty="0"/>
              <a:t> </a:t>
            </a:r>
            <a:r>
              <a:rPr dirty="0"/>
              <a:t>weaker</a:t>
            </a:r>
            <a:r>
              <a:rPr spc="-25" dirty="0"/>
              <a:t> </a:t>
            </a:r>
            <a:r>
              <a:rPr dirty="0"/>
              <a:t>than</a:t>
            </a:r>
            <a:r>
              <a:rPr spc="-85" dirty="0"/>
              <a:t> </a:t>
            </a:r>
            <a:r>
              <a:rPr dirty="0"/>
              <a:t>the</a:t>
            </a:r>
            <a:r>
              <a:rPr spc="-90" dirty="0"/>
              <a:t> </a:t>
            </a:r>
            <a:r>
              <a:rPr spc="-20" dirty="0"/>
              <a:t>real</a:t>
            </a:r>
          </a:p>
          <a:p>
            <a:pPr marL="951230">
              <a:lnSpc>
                <a:spcPts val="2280"/>
              </a:lnSpc>
            </a:pPr>
            <a:r>
              <a:rPr dirty="0"/>
              <a:t>dataset</a:t>
            </a:r>
            <a:r>
              <a:rPr spc="-105" dirty="0"/>
              <a:t> </a:t>
            </a:r>
            <a:r>
              <a:rPr spc="-10" dirty="0"/>
              <a:t>distribution.</a:t>
            </a:r>
          </a:p>
          <a:p>
            <a:pPr marL="951230">
              <a:lnSpc>
                <a:spcPct val="100000"/>
              </a:lnSpc>
              <a:spcBef>
                <a:spcPts val="1155"/>
              </a:spcBef>
            </a:pPr>
            <a:r>
              <a:rPr b="1" dirty="0">
                <a:latin typeface="Calibri"/>
                <a:cs typeface="Calibri"/>
              </a:rPr>
              <a:t>Inception</a:t>
            </a:r>
            <a:r>
              <a:rPr b="1" spc="-8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Score:</a:t>
            </a:r>
          </a:p>
          <a:p>
            <a:pPr marL="951230">
              <a:lnSpc>
                <a:spcPct val="100000"/>
              </a:lnSpc>
              <a:spcBef>
                <a:spcPts val="1420"/>
              </a:spcBef>
            </a:pPr>
            <a:r>
              <a:rPr b="1" dirty="0">
                <a:latin typeface="Calibri"/>
                <a:cs typeface="Calibri"/>
              </a:rPr>
              <a:t>1.0000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±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0.0000</a:t>
            </a:r>
          </a:p>
          <a:p>
            <a:pPr marL="951230">
              <a:lnSpc>
                <a:spcPct val="100000"/>
              </a:lnSpc>
            </a:pPr>
            <a:r>
              <a:rPr dirty="0"/>
              <a:t>Meaning:</a:t>
            </a:r>
            <a:r>
              <a:rPr spc="-90" dirty="0"/>
              <a:t> </a:t>
            </a:r>
            <a:r>
              <a:rPr spc="-10" dirty="0"/>
              <a:t>generated</a:t>
            </a:r>
            <a:r>
              <a:rPr spc="-30" dirty="0"/>
              <a:t> </a:t>
            </a:r>
            <a:r>
              <a:rPr dirty="0"/>
              <a:t>images</a:t>
            </a:r>
            <a:r>
              <a:rPr spc="-70" dirty="0"/>
              <a:t> </a:t>
            </a:r>
            <a:r>
              <a:rPr dirty="0"/>
              <a:t>lack</a:t>
            </a:r>
            <a:r>
              <a:rPr spc="-75" dirty="0"/>
              <a:t> </a:t>
            </a:r>
            <a:r>
              <a:rPr dirty="0"/>
              <a:t>diversity</a:t>
            </a:r>
            <a:r>
              <a:rPr spc="-50" dirty="0"/>
              <a:t> </a:t>
            </a:r>
            <a:r>
              <a:rPr dirty="0"/>
              <a:t>(common</a:t>
            </a:r>
            <a:r>
              <a:rPr spc="-75" dirty="0"/>
              <a:t> </a:t>
            </a:r>
            <a:r>
              <a:rPr dirty="0"/>
              <a:t>for</a:t>
            </a:r>
            <a:r>
              <a:rPr spc="-75" dirty="0"/>
              <a:t> </a:t>
            </a:r>
            <a:r>
              <a:rPr dirty="0"/>
              <a:t>small</a:t>
            </a:r>
            <a:r>
              <a:rPr spc="-80" dirty="0"/>
              <a:t> </a:t>
            </a:r>
            <a:r>
              <a:rPr dirty="0"/>
              <a:t>diffusion</a:t>
            </a:r>
            <a:r>
              <a:rPr spc="-50" dirty="0"/>
              <a:t> </a:t>
            </a:r>
            <a:r>
              <a:rPr spc="-10" dirty="0"/>
              <a:t>runs).</a:t>
            </a:r>
          </a:p>
          <a:p>
            <a:pPr marL="951230">
              <a:lnSpc>
                <a:spcPct val="100000"/>
              </a:lnSpc>
              <a:spcBef>
                <a:spcPts val="1155"/>
              </a:spcBef>
            </a:pPr>
            <a:r>
              <a:rPr dirty="0"/>
              <a:t>CLIP</a:t>
            </a:r>
            <a:r>
              <a:rPr spc="-75" dirty="0"/>
              <a:t> </a:t>
            </a:r>
            <a:r>
              <a:rPr dirty="0"/>
              <a:t>Score</a:t>
            </a:r>
            <a:r>
              <a:rPr spc="-60" dirty="0"/>
              <a:t> </a:t>
            </a:r>
            <a:r>
              <a:rPr dirty="0"/>
              <a:t>remained</a:t>
            </a:r>
            <a:r>
              <a:rPr spc="-30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spc="-10" dirty="0"/>
              <a:t>strongest </a:t>
            </a:r>
            <a:r>
              <a:rPr dirty="0"/>
              <a:t>metric</a:t>
            </a:r>
            <a:r>
              <a:rPr spc="-55" dirty="0"/>
              <a:t> </a:t>
            </a:r>
            <a:r>
              <a:rPr dirty="0"/>
              <a:t>for</a:t>
            </a:r>
            <a:r>
              <a:rPr spc="-50" dirty="0"/>
              <a:t> </a:t>
            </a:r>
            <a:r>
              <a:rPr spc="-10" dirty="0"/>
              <a:t>alignment.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4816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80405" y="495376"/>
            <a:ext cx="170688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Results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1936" y="1892807"/>
            <a:ext cx="4895088" cy="39867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4976" y="2392679"/>
            <a:ext cx="4895087" cy="233476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7" y="6400799"/>
            <a:ext cx="12189460" cy="457200"/>
          </a:xfrm>
          <a:custGeom>
            <a:avLst/>
            <a:gdLst/>
            <a:ahLst/>
            <a:cxnLst/>
            <a:rect l="l" t="t" r="r" b="b"/>
            <a:pathLst>
              <a:path w="12189460" h="457200">
                <a:moveTo>
                  <a:pt x="12188952" y="0"/>
                </a:move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lnTo>
                  <a:pt x="12188952" y="0"/>
                </a:lnTo>
                <a:close/>
              </a:path>
            </a:pathLst>
          </a:custGeom>
          <a:solidFill>
            <a:srgbClr val="DD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6334125"/>
          </a:xfrm>
          <a:custGeom>
            <a:avLst/>
            <a:gdLst/>
            <a:ahLst/>
            <a:cxnLst/>
            <a:rect l="l" t="t" r="r" b="b"/>
            <a:pathLst>
              <a:path w="12192000" h="6334125">
                <a:moveTo>
                  <a:pt x="12192000" y="0"/>
                </a:moveTo>
                <a:lnTo>
                  <a:pt x="0" y="0"/>
                </a:lnTo>
                <a:lnTo>
                  <a:pt x="0" y="6333744"/>
                </a:lnTo>
                <a:lnTo>
                  <a:pt x="12192000" y="6333744"/>
                </a:lnTo>
                <a:lnTo>
                  <a:pt x="12192000" y="0"/>
                </a:lnTo>
                <a:close/>
              </a:path>
            </a:pathLst>
          </a:custGeom>
          <a:solidFill>
            <a:srgbClr val="EDEB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22170" y="4786706"/>
            <a:ext cx="794194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75" dirty="0">
                <a:solidFill>
                  <a:srgbClr val="252525"/>
                </a:solidFill>
                <a:latin typeface="Calibri Light"/>
                <a:cs typeface="Calibri Light"/>
              </a:rPr>
              <a:t>Prompt</a:t>
            </a:r>
            <a:r>
              <a:rPr sz="4800" spc="-20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4800" dirty="0">
                <a:solidFill>
                  <a:srgbClr val="252525"/>
                </a:solidFill>
                <a:latin typeface="Calibri Light"/>
                <a:cs typeface="Calibri Light"/>
              </a:rPr>
              <a:t>and</a:t>
            </a:r>
            <a:r>
              <a:rPr sz="4800" spc="-24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4800" dirty="0">
                <a:solidFill>
                  <a:srgbClr val="252525"/>
                </a:solidFill>
                <a:latin typeface="Calibri Light"/>
                <a:cs typeface="Calibri Light"/>
              </a:rPr>
              <a:t>the</a:t>
            </a:r>
            <a:r>
              <a:rPr sz="4800" spc="-22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4800" spc="-40" dirty="0">
                <a:solidFill>
                  <a:srgbClr val="252525"/>
                </a:solidFill>
                <a:latin typeface="Calibri Light"/>
                <a:cs typeface="Calibri Light"/>
              </a:rPr>
              <a:t>image</a:t>
            </a:r>
            <a:r>
              <a:rPr sz="4800" spc="-22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4800" spc="-30" dirty="0">
                <a:solidFill>
                  <a:srgbClr val="252525"/>
                </a:solidFill>
                <a:latin typeface="Calibri Light"/>
                <a:cs typeface="Calibri Light"/>
              </a:rPr>
              <a:t>generated</a:t>
            </a:r>
            <a:endParaRPr sz="4800">
              <a:latin typeface="Calibri Light"/>
              <a:cs typeface="Calibri Ligh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33983" y="621791"/>
            <a:ext cx="10909300" cy="4998720"/>
            <a:chOff x="633983" y="621791"/>
            <a:chExt cx="10909300" cy="499872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9943" y="621791"/>
              <a:ext cx="5132832" cy="37338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065519" y="886967"/>
              <a:ext cx="64135" cy="3108960"/>
            </a:xfrm>
            <a:custGeom>
              <a:avLst/>
              <a:gdLst/>
              <a:ahLst/>
              <a:cxnLst/>
              <a:rect l="l" t="t" r="r" b="b"/>
              <a:pathLst>
                <a:path w="64135" h="3108960">
                  <a:moveTo>
                    <a:pt x="64008" y="0"/>
                  </a:moveTo>
                  <a:lnTo>
                    <a:pt x="0" y="0"/>
                  </a:lnTo>
                  <a:lnTo>
                    <a:pt x="0" y="3108960"/>
                  </a:lnTo>
                  <a:lnTo>
                    <a:pt x="64008" y="3108960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FF84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3983" y="621791"/>
              <a:ext cx="5117592" cy="370941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22375" y="5617463"/>
              <a:ext cx="10515600" cy="0"/>
            </a:xfrm>
            <a:custGeom>
              <a:avLst/>
              <a:gdLst/>
              <a:ahLst/>
              <a:cxnLst/>
              <a:rect l="l" t="t" r="r" b="b"/>
              <a:pathLst>
                <a:path w="10515600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ln w="6096">
              <a:solidFill>
                <a:srgbClr val="5050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7" y="6400799"/>
            <a:ext cx="12189460" cy="457200"/>
          </a:xfrm>
          <a:custGeom>
            <a:avLst/>
            <a:gdLst/>
            <a:ahLst/>
            <a:cxnLst/>
            <a:rect l="l" t="t" r="r" b="b"/>
            <a:pathLst>
              <a:path w="12189460" h="457200">
                <a:moveTo>
                  <a:pt x="12188952" y="0"/>
                </a:move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lnTo>
                  <a:pt x="12188952" y="0"/>
                </a:lnTo>
                <a:close/>
              </a:path>
            </a:pathLst>
          </a:custGeom>
          <a:solidFill>
            <a:srgbClr val="DD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6334125"/>
          </a:xfrm>
          <a:custGeom>
            <a:avLst/>
            <a:gdLst/>
            <a:ahLst/>
            <a:cxnLst/>
            <a:rect l="l" t="t" r="r" b="b"/>
            <a:pathLst>
              <a:path w="12192000" h="6334125">
                <a:moveTo>
                  <a:pt x="12192000" y="0"/>
                </a:moveTo>
                <a:lnTo>
                  <a:pt x="0" y="0"/>
                </a:lnTo>
                <a:lnTo>
                  <a:pt x="0" y="6333744"/>
                </a:lnTo>
                <a:lnTo>
                  <a:pt x="12192000" y="6333744"/>
                </a:lnTo>
                <a:lnTo>
                  <a:pt x="12192000" y="0"/>
                </a:lnTo>
                <a:close/>
              </a:path>
            </a:pathLst>
          </a:custGeom>
          <a:solidFill>
            <a:srgbClr val="EDEB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13028" y="5025008"/>
            <a:ext cx="10513060" cy="84772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>
              <a:lnSpc>
                <a:spcPct val="85100"/>
              </a:lnSpc>
              <a:spcBef>
                <a:spcPts val="450"/>
              </a:spcBef>
            </a:pPr>
            <a:r>
              <a:rPr sz="2000" spc="-40" dirty="0">
                <a:solidFill>
                  <a:srgbClr val="404040"/>
                </a:solidFill>
                <a:latin typeface="Calibri Light"/>
                <a:cs typeface="Calibri Light"/>
              </a:rPr>
              <a:t>This</a:t>
            </a:r>
            <a:r>
              <a:rPr sz="2000" spc="-12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Calibri Light"/>
                <a:cs typeface="Calibri Light"/>
              </a:rPr>
              <a:t>chart</a:t>
            </a:r>
            <a:r>
              <a:rPr sz="2000" spc="-15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000" spc="-70" dirty="0">
                <a:solidFill>
                  <a:srgbClr val="404040"/>
                </a:solidFill>
                <a:latin typeface="Calibri Light"/>
                <a:cs typeface="Calibri Light"/>
              </a:rPr>
              <a:t>compares</a:t>
            </a:r>
            <a:r>
              <a:rPr sz="2000" spc="-15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Calibri Light"/>
                <a:cs typeface="Calibri Light"/>
              </a:rPr>
              <a:t>CLIP</a:t>
            </a:r>
            <a:r>
              <a:rPr sz="2000" spc="-12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000" spc="-65" dirty="0">
                <a:solidFill>
                  <a:srgbClr val="404040"/>
                </a:solidFill>
                <a:latin typeface="Calibri Light"/>
                <a:cs typeface="Calibri Light"/>
              </a:rPr>
              <a:t>alignment</a:t>
            </a:r>
            <a:r>
              <a:rPr sz="2000" spc="-15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Calibri Light"/>
                <a:cs typeface="Calibri Light"/>
              </a:rPr>
              <a:t>scores</a:t>
            </a:r>
            <a:r>
              <a:rPr sz="2000" spc="-15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Calibri Light"/>
                <a:cs typeface="Calibri Light"/>
              </a:rPr>
              <a:t>for</a:t>
            </a:r>
            <a:r>
              <a:rPr sz="2000" spc="-13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Calibri Light"/>
                <a:cs typeface="Calibri Light"/>
              </a:rPr>
              <a:t>each</a:t>
            </a:r>
            <a:r>
              <a:rPr sz="2000" spc="-15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000" spc="-65" dirty="0">
                <a:solidFill>
                  <a:srgbClr val="404040"/>
                </a:solidFill>
                <a:latin typeface="Calibri Light"/>
                <a:cs typeface="Calibri Light"/>
              </a:rPr>
              <a:t>prompt</a:t>
            </a:r>
            <a:r>
              <a:rPr sz="2000" spc="-15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000" spc="-65" dirty="0">
                <a:solidFill>
                  <a:srgbClr val="404040"/>
                </a:solidFill>
                <a:latin typeface="Calibri Light"/>
                <a:cs typeface="Calibri Light"/>
              </a:rPr>
              <a:t>between</a:t>
            </a:r>
            <a:r>
              <a:rPr sz="2000" spc="-15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000" spc="-55" dirty="0">
                <a:solidFill>
                  <a:srgbClr val="404040"/>
                </a:solidFill>
                <a:latin typeface="Calibri Light"/>
                <a:cs typeface="Calibri Light"/>
              </a:rPr>
              <a:t>Stable</a:t>
            </a:r>
            <a:r>
              <a:rPr sz="2000" spc="-14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000" spc="-65" dirty="0">
                <a:solidFill>
                  <a:srgbClr val="404040"/>
                </a:solidFill>
                <a:latin typeface="Calibri Light"/>
                <a:cs typeface="Calibri Light"/>
              </a:rPr>
              <a:t>Diffusion</a:t>
            </a:r>
            <a:r>
              <a:rPr sz="2000" spc="-15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000" spc="-35" dirty="0">
                <a:solidFill>
                  <a:srgbClr val="404040"/>
                </a:solidFill>
                <a:latin typeface="Calibri Light"/>
                <a:cs typeface="Calibri Light"/>
              </a:rPr>
              <a:t>and</a:t>
            </a:r>
            <a:r>
              <a:rPr sz="2000" spc="-12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000" spc="-70" dirty="0">
                <a:solidFill>
                  <a:srgbClr val="404040"/>
                </a:solidFill>
                <a:latin typeface="Calibri Light"/>
                <a:cs typeface="Calibri Light"/>
              </a:rPr>
              <a:t>Kandinsky</a:t>
            </a:r>
            <a:r>
              <a:rPr sz="2000" spc="-13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 Light"/>
                <a:cs typeface="Calibri Light"/>
              </a:rPr>
              <a:t>2.2. </a:t>
            </a:r>
            <a:r>
              <a:rPr sz="2000" spc="-70" dirty="0">
                <a:solidFill>
                  <a:srgbClr val="404040"/>
                </a:solidFill>
                <a:latin typeface="Calibri Light"/>
                <a:cs typeface="Calibri Light"/>
              </a:rPr>
              <a:t>Kandinsky</a:t>
            </a:r>
            <a:r>
              <a:rPr sz="2000" spc="-14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000" spc="-70" dirty="0">
                <a:solidFill>
                  <a:srgbClr val="404040"/>
                </a:solidFill>
                <a:latin typeface="Calibri Light"/>
                <a:cs typeface="Calibri Light"/>
              </a:rPr>
              <a:t>performs</a:t>
            </a:r>
            <a:r>
              <a:rPr sz="2000" spc="-15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000" spc="-65" dirty="0">
                <a:solidFill>
                  <a:srgbClr val="404040"/>
                </a:solidFill>
                <a:latin typeface="Calibri Light"/>
                <a:cs typeface="Calibri Light"/>
              </a:rPr>
              <a:t>better</a:t>
            </a:r>
            <a:r>
              <a:rPr sz="2000" spc="-13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libri Light"/>
                <a:cs typeface="Calibri Light"/>
              </a:rPr>
              <a:t>on</a:t>
            </a:r>
            <a:r>
              <a:rPr sz="2000" spc="-10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Calibri Light"/>
                <a:cs typeface="Calibri Light"/>
              </a:rPr>
              <a:t>some</a:t>
            </a:r>
            <a:r>
              <a:rPr sz="2000" spc="-15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Calibri Light"/>
                <a:cs typeface="Calibri Light"/>
              </a:rPr>
              <a:t>clothing</a:t>
            </a:r>
            <a:r>
              <a:rPr sz="2000" spc="-14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000" spc="-70" dirty="0">
                <a:solidFill>
                  <a:srgbClr val="404040"/>
                </a:solidFill>
                <a:latin typeface="Calibri Light"/>
                <a:cs typeface="Calibri Light"/>
              </a:rPr>
              <a:t>prompts,</a:t>
            </a:r>
            <a:r>
              <a:rPr sz="2000" spc="-12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Calibri Light"/>
                <a:cs typeface="Calibri Light"/>
              </a:rPr>
              <a:t>but</a:t>
            </a:r>
            <a:r>
              <a:rPr sz="2000" spc="-15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Calibri Light"/>
                <a:cs typeface="Calibri Light"/>
              </a:rPr>
              <a:t>Stable</a:t>
            </a:r>
            <a:r>
              <a:rPr sz="2000" spc="-12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000" spc="-65" dirty="0">
                <a:solidFill>
                  <a:srgbClr val="404040"/>
                </a:solidFill>
                <a:latin typeface="Calibri Light"/>
                <a:cs typeface="Calibri Light"/>
              </a:rPr>
              <a:t>Diffusion</a:t>
            </a:r>
            <a:r>
              <a:rPr sz="2000" spc="-15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Calibri Light"/>
                <a:cs typeface="Calibri Light"/>
              </a:rPr>
              <a:t>shows</a:t>
            </a:r>
            <a:r>
              <a:rPr sz="2000" spc="-15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000" spc="-55" dirty="0">
                <a:solidFill>
                  <a:srgbClr val="404040"/>
                </a:solidFill>
                <a:latin typeface="Calibri Light"/>
                <a:cs typeface="Calibri Light"/>
              </a:rPr>
              <a:t>more</a:t>
            </a:r>
            <a:r>
              <a:rPr sz="2000" spc="-15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000" spc="-70" dirty="0">
                <a:solidFill>
                  <a:srgbClr val="404040"/>
                </a:solidFill>
                <a:latin typeface="Calibri Light"/>
                <a:cs typeface="Calibri Light"/>
              </a:rPr>
              <a:t>consistent</a:t>
            </a:r>
            <a:r>
              <a:rPr sz="2000" spc="-15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Calibri Light"/>
                <a:cs typeface="Calibri Light"/>
              </a:rPr>
              <a:t>scores</a:t>
            </a:r>
            <a:r>
              <a:rPr sz="2000" spc="-15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 Light"/>
                <a:cs typeface="Calibri Light"/>
              </a:rPr>
              <a:t>across </a:t>
            </a:r>
            <a:r>
              <a:rPr sz="2000" spc="-40" dirty="0">
                <a:solidFill>
                  <a:srgbClr val="404040"/>
                </a:solidFill>
                <a:latin typeface="Calibri Light"/>
                <a:cs typeface="Calibri Light"/>
              </a:rPr>
              <a:t>the</a:t>
            </a:r>
            <a:r>
              <a:rPr sz="2000" spc="-14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Calibri Light"/>
                <a:cs typeface="Calibri Light"/>
              </a:rPr>
              <a:t>full</a:t>
            </a:r>
            <a:r>
              <a:rPr sz="2000" spc="-14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 Light"/>
                <a:cs typeface="Calibri Light"/>
              </a:rPr>
              <a:t>set.</a:t>
            </a:r>
            <a:endParaRPr sz="2000">
              <a:latin typeface="Calibri Light"/>
              <a:cs typeface="Calibri Ligh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33983" y="426719"/>
            <a:ext cx="10604500" cy="5194300"/>
            <a:chOff x="633983" y="426719"/>
            <a:chExt cx="10604500" cy="51943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3983" y="426719"/>
              <a:ext cx="10603992" cy="38496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22375" y="5617463"/>
              <a:ext cx="10515600" cy="0"/>
            </a:xfrm>
            <a:custGeom>
              <a:avLst/>
              <a:gdLst/>
              <a:ahLst/>
              <a:cxnLst/>
              <a:rect l="l" t="t" r="r" b="b"/>
              <a:pathLst>
                <a:path w="10515600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ln w="6096">
              <a:solidFill>
                <a:srgbClr val="5050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7" y="6400799"/>
            <a:ext cx="12189460" cy="457200"/>
          </a:xfrm>
          <a:custGeom>
            <a:avLst/>
            <a:gdLst/>
            <a:ahLst/>
            <a:cxnLst/>
            <a:rect l="l" t="t" r="r" b="b"/>
            <a:pathLst>
              <a:path w="12189460" h="457200">
                <a:moveTo>
                  <a:pt x="12188952" y="0"/>
                </a:move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lnTo>
                  <a:pt x="12188952" y="0"/>
                </a:lnTo>
                <a:close/>
              </a:path>
            </a:pathLst>
          </a:custGeom>
          <a:solidFill>
            <a:srgbClr val="DD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6334125"/>
          </a:xfrm>
          <a:custGeom>
            <a:avLst/>
            <a:gdLst/>
            <a:ahLst/>
            <a:cxnLst/>
            <a:rect l="l" t="t" r="r" b="b"/>
            <a:pathLst>
              <a:path w="12192000" h="6334125">
                <a:moveTo>
                  <a:pt x="12192000" y="0"/>
                </a:moveTo>
                <a:lnTo>
                  <a:pt x="0" y="0"/>
                </a:lnTo>
                <a:lnTo>
                  <a:pt x="0" y="6333744"/>
                </a:lnTo>
                <a:lnTo>
                  <a:pt x="12192000" y="6333744"/>
                </a:lnTo>
                <a:lnTo>
                  <a:pt x="12192000" y="0"/>
                </a:lnTo>
                <a:close/>
              </a:path>
            </a:pathLst>
          </a:custGeom>
          <a:solidFill>
            <a:srgbClr val="EDEB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13028" y="4557725"/>
            <a:ext cx="10749280" cy="12198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450"/>
              </a:lnSpc>
              <a:spcBef>
                <a:spcPts val="110"/>
              </a:spcBef>
            </a:pPr>
            <a:r>
              <a:rPr sz="2200" spc="-45" dirty="0">
                <a:solidFill>
                  <a:srgbClr val="404040"/>
                </a:solidFill>
                <a:latin typeface="Calibri Light"/>
                <a:cs typeface="Calibri Light"/>
              </a:rPr>
              <a:t>This</a:t>
            </a:r>
            <a:r>
              <a:rPr sz="2200" spc="-17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200" spc="-55" dirty="0">
                <a:solidFill>
                  <a:srgbClr val="404040"/>
                </a:solidFill>
                <a:latin typeface="Calibri Light"/>
                <a:cs typeface="Calibri Light"/>
              </a:rPr>
              <a:t>chart</a:t>
            </a:r>
            <a:r>
              <a:rPr sz="2200" spc="-16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200" spc="-75" dirty="0">
                <a:solidFill>
                  <a:srgbClr val="404040"/>
                </a:solidFill>
                <a:latin typeface="Calibri Light"/>
                <a:cs typeface="Calibri Light"/>
              </a:rPr>
              <a:t>compares</a:t>
            </a:r>
            <a:r>
              <a:rPr sz="2200" spc="-17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200" spc="-35" dirty="0">
                <a:solidFill>
                  <a:srgbClr val="404040"/>
                </a:solidFill>
                <a:latin typeface="Calibri Light"/>
                <a:cs typeface="Calibri Light"/>
              </a:rPr>
              <a:t>the</a:t>
            </a:r>
            <a:r>
              <a:rPr sz="2200" spc="-16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200" spc="-40" dirty="0">
                <a:solidFill>
                  <a:srgbClr val="404040"/>
                </a:solidFill>
                <a:latin typeface="Calibri Light"/>
                <a:cs typeface="Calibri Light"/>
              </a:rPr>
              <a:t>CLIP</a:t>
            </a:r>
            <a:r>
              <a:rPr sz="2200" spc="-17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200" spc="-65" dirty="0">
                <a:solidFill>
                  <a:srgbClr val="404040"/>
                </a:solidFill>
                <a:latin typeface="Calibri Light"/>
                <a:cs typeface="Calibri Light"/>
              </a:rPr>
              <a:t>scores</a:t>
            </a:r>
            <a:r>
              <a:rPr sz="2200" spc="-17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200" spc="-35" dirty="0">
                <a:solidFill>
                  <a:srgbClr val="404040"/>
                </a:solidFill>
                <a:latin typeface="Calibri Light"/>
                <a:cs typeface="Calibri Light"/>
              </a:rPr>
              <a:t>of</a:t>
            </a:r>
            <a:r>
              <a:rPr sz="2200" spc="-114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200" spc="-65" dirty="0">
                <a:solidFill>
                  <a:srgbClr val="404040"/>
                </a:solidFill>
                <a:latin typeface="Calibri Light"/>
                <a:cs typeface="Calibri Light"/>
              </a:rPr>
              <a:t>Stable</a:t>
            </a:r>
            <a:r>
              <a:rPr sz="2200" spc="-16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200" spc="-70" dirty="0">
                <a:solidFill>
                  <a:srgbClr val="404040"/>
                </a:solidFill>
                <a:latin typeface="Calibri Light"/>
                <a:cs typeface="Calibri Light"/>
              </a:rPr>
              <a:t>Diffusion</a:t>
            </a:r>
            <a:r>
              <a:rPr sz="2200" spc="-17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200" spc="-35" dirty="0">
                <a:solidFill>
                  <a:srgbClr val="404040"/>
                </a:solidFill>
                <a:latin typeface="Calibri Light"/>
                <a:cs typeface="Calibri Light"/>
              </a:rPr>
              <a:t>and</a:t>
            </a:r>
            <a:r>
              <a:rPr sz="2200" spc="-15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200" spc="-75" dirty="0">
                <a:solidFill>
                  <a:srgbClr val="404040"/>
                </a:solidFill>
                <a:latin typeface="Calibri Light"/>
                <a:cs typeface="Calibri Light"/>
              </a:rPr>
              <a:t>Kandinsky</a:t>
            </a:r>
            <a:r>
              <a:rPr sz="2200" spc="-17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200" spc="-35" dirty="0">
                <a:solidFill>
                  <a:srgbClr val="404040"/>
                </a:solidFill>
                <a:latin typeface="Calibri Light"/>
                <a:cs typeface="Calibri Light"/>
              </a:rPr>
              <a:t>2.2</a:t>
            </a:r>
            <a:r>
              <a:rPr sz="2200" spc="-14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200" spc="-65" dirty="0">
                <a:solidFill>
                  <a:srgbClr val="404040"/>
                </a:solidFill>
                <a:latin typeface="Calibri Light"/>
                <a:cs typeface="Calibri Light"/>
              </a:rPr>
              <a:t>across</a:t>
            </a:r>
            <a:r>
              <a:rPr sz="2200" spc="-17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200" spc="-35" dirty="0">
                <a:solidFill>
                  <a:srgbClr val="404040"/>
                </a:solidFill>
                <a:latin typeface="Calibri Light"/>
                <a:cs typeface="Calibri Light"/>
              </a:rPr>
              <a:t>the</a:t>
            </a:r>
            <a:r>
              <a:rPr sz="2200" spc="-14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200" spc="-50" dirty="0">
                <a:solidFill>
                  <a:srgbClr val="404040"/>
                </a:solidFill>
                <a:latin typeface="Calibri Light"/>
                <a:cs typeface="Calibri Light"/>
              </a:rPr>
              <a:t>same</a:t>
            </a:r>
            <a:r>
              <a:rPr sz="2200" spc="-19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200" spc="-40" dirty="0">
                <a:solidFill>
                  <a:srgbClr val="404040"/>
                </a:solidFill>
                <a:latin typeface="Calibri Light"/>
                <a:cs typeface="Calibri Light"/>
              </a:rPr>
              <a:t>set</a:t>
            </a:r>
            <a:r>
              <a:rPr sz="2200" spc="-13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Calibri Light"/>
                <a:cs typeface="Calibri Light"/>
              </a:rPr>
              <a:t>of</a:t>
            </a:r>
            <a:endParaRPr sz="2200">
              <a:latin typeface="Calibri Light"/>
              <a:cs typeface="Calibri Light"/>
            </a:endParaRPr>
          </a:p>
          <a:p>
            <a:pPr marL="12700">
              <a:lnSpc>
                <a:spcPts val="2245"/>
              </a:lnSpc>
            </a:pPr>
            <a:r>
              <a:rPr sz="2200" spc="-10" dirty="0">
                <a:solidFill>
                  <a:srgbClr val="404040"/>
                </a:solidFill>
                <a:latin typeface="Calibri Light"/>
                <a:cs typeface="Calibri Light"/>
              </a:rPr>
              <a:t>prompts.</a:t>
            </a:r>
            <a:endParaRPr sz="2200">
              <a:latin typeface="Calibri Light"/>
              <a:cs typeface="Calibri Light"/>
            </a:endParaRPr>
          </a:p>
          <a:p>
            <a:pPr marL="12700">
              <a:lnSpc>
                <a:spcPts val="2245"/>
              </a:lnSpc>
            </a:pPr>
            <a:r>
              <a:rPr sz="2200" spc="-75" dirty="0">
                <a:solidFill>
                  <a:srgbClr val="404040"/>
                </a:solidFill>
                <a:latin typeface="Calibri Light"/>
                <a:cs typeface="Calibri Light"/>
              </a:rPr>
              <a:t>Kandinsky</a:t>
            </a:r>
            <a:r>
              <a:rPr sz="2200" spc="-15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200" spc="-70" dirty="0">
                <a:solidFill>
                  <a:srgbClr val="404040"/>
                </a:solidFill>
                <a:latin typeface="Calibri Light"/>
                <a:cs typeface="Calibri Light"/>
              </a:rPr>
              <a:t>achieves</a:t>
            </a:r>
            <a:r>
              <a:rPr sz="2200" spc="-15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200" spc="-65" dirty="0">
                <a:solidFill>
                  <a:srgbClr val="404040"/>
                </a:solidFill>
                <a:latin typeface="Calibri Light"/>
                <a:cs typeface="Calibri Light"/>
              </a:rPr>
              <a:t>slightly</a:t>
            </a:r>
            <a:r>
              <a:rPr sz="2200" spc="-15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200" spc="-60" dirty="0">
                <a:solidFill>
                  <a:srgbClr val="404040"/>
                </a:solidFill>
                <a:latin typeface="Calibri Light"/>
                <a:cs typeface="Calibri Light"/>
              </a:rPr>
              <a:t>higher</a:t>
            </a:r>
            <a:r>
              <a:rPr sz="2200" spc="-15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200" spc="-65" dirty="0">
                <a:solidFill>
                  <a:srgbClr val="404040"/>
                </a:solidFill>
                <a:latin typeface="Calibri Light"/>
                <a:cs typeface="Calibri Light"/>
              </a:rPr>
              <a:t>scores</a:t>
            </a:r>
            <a:r>
              <a:rPr sz="2200" spc="-15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Calibri Light"/>
                <a:cs typeface="Calibri Light"/>
              </a:rPr>
              <a:t>on</a:t>
            </a:r>
            <a:r>
              <a:rPr sz="2200" spc="-10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200" spc="-75" dirty="0">
                <a:solidFill>
                  <a:srgbClr val="404040"/>
                </a:solidFill>
                <a:latin typeface="Calibri Light"/>
                <a:cs typeface="Calibri Light"/>
              </a:rPr>
              <a:t>several</a:t>
            </a:r>
            <a:r>
              <a:rPr sz="2200" spc="-14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200" spc="-60" dirty="0">
                <a:solidFill>
                  <a:srgbClr val="404040"/>
                </a:solidFill>
                <a:latin typeface="Calibri Light"/>
                <a:cs typeface="Calibri Light"/>
              </a:rPr>
              <a:t>items,</a:t>
            </a:r>
            <a:r>
              <a:rPr sz="2200" spc="-15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200" spc="-40" dirty="0">
                <a:solidFill>
                  <a:srgbClr val="404040"/>
                </a:solidFill>
                <a:latin typeface="Calibri Light"/>
                <a:cs typeface="Calibri Light"/>
              </a:rPr>
              <a:t>but</a:t>
            </a:r>
            <a:r>
              <a:rPr sz="2200" spc="-14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200" spc="-60" dirty="0">
                <a:solidFill>
                  <a:srgbClr val="404040"/>
                </a:solidFill>
                <a:latin typeface="Calibri Light"/>
                <a:cs typeface="Calibri Light"/>
              </a:rPr>
              <a:t>Stable</a:t>
            </a:r>
            <a:r>
              <a:rPr sz="2200" spc="-17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200" spc="-70" dirty="0">
                <a:solidFill>
                  <a:srgbClr val="404040"/>
                </a:solidFill>
                <a:latin typeface="Calibri Light"/>
                <a:cs typeface="Calibri Light"/>
              </a:rPr>
              <a:t>Diffusion</a:t>
            </a:r>
            <a:r>
              <a:rPr sz="2200" spc="-16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200" spc="-70" dirty="0">
                <a:solidFill>
                  <a:srgbClr val="404040"/>
                </a:solidFill>
                <a:latin typeface="Calibri Light"/>
                <a:cs typeface="Calibri Light"/>
              </a:rPr>
              <a:t>remains</a:t>
            </a:r>
            <a:r>
              <a:rPr sz="2200" spc="-15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200" spc="-55" dirty="0">
                <a:solidFill>
                  <a:srgbClr val="404040"/>
                </a:solidFill>
                <a:latin typeface="Calibri Light"/>
                <a:cs typeface="Calibri Light"/>
              </a:rPr>
              <a:t>more</a:t>
            </a:r>
            <a:r>
              <a:rPr sz="2200" spc="-15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 Light"/>
                <a:cs typeface="Calibri Light"/>
              </a:rPr>
              <a:t>consistent</a:t>
            </a:r>
            <a:endParaRPr sz="2200">
              <a:latin typeface="Calibri Light"/>
              <a:cs typeface="Calibri Light"/>
            </a:endParaRPr>
          </a:p>
          <a:p>
            <a:pPr marL="12700">
              <a:lnSpc>
                <a:spcPts val="2450"/>
              </a:lnSpc>
            </a:pPr>
            <a:r>
              <a:rPr sz="2200" spc="-75" dirty="0">
                <a:solidFill>
                  <a:srgbClr val="404040"/>
                </a:solidFill>
                <a:latin typeface="Calibri Light"/>
                <a:cs typeface="Calibri Light"/>
              </a:rPr>
              <a:t>overall</a:t>
            </a:r>
            <a:r>
              <a:rPr sz="2200" spc="-15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200" spc="-65" dirty="0">
                <a:solidFill>
                  <a:srgbClr val="404040"/>
                </a:solidFill>
                <a:latin typeface="Calibri Light"/>
                <a:cs typeface="Calibri Light"/>
              </a:rPr>
              <a:t>across</a:t>
            </a:r>
            <a:r>
              <a:rPr sz="2200" spc="-16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200" spc="-35" dirty="0">
                <a:solidFill>
                  <a:srgbClr val="404040"/>
                </a:solidFill>
                <a:latin typeface="Calibri Light"/>
                <a:cs typeface="Calibri Light"/>
              </a:rPr>
              <a:t>all</a:t>
            </a:r>
            <a:r>
              <a:rPr sz="2200" spc="-15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 Light"/>
                <a:cs typeface="Calibri Light"/>
              </a:rPr>
              <a:t>categories.</a:t>
            </a:r>
            <a:endParaRPr sz="2200">
              <a:latin typeface="Calibri Light"/>
              <a:cs typeface="Calibri Ligh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22376" y="649223"/>
            <a:ext cx="10820400" cy="4971415"/>
            <a:chOff x="722376" y="649223"/>
            <a:chExt cx="10820400" cy="497141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2376" y="649223"/>
              <a:ext cx="10820400" cy="360273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22376" y="5617464"/>
              <a:ext cx="10515600" cy="0"/>
            </a:xfrm>
            <a:custGeom>
              <a:avLst/>
              <a:gdLst/>
              <a:ahLst/>
              <a:cxnLst/>
              <a:rect l="l" t="t" r="r" b="b"/>
              <a:pathLst>
                <a:path w="10515600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ln w="6096">
              <a:solidFill>
                <a:srgbClr val="5050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26253" y="545414"/>
            <a:ext cx="261366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75" dirty="0"/>
              <a:t>Final</a:t>
            </a:r>
            <a:r>
              <a:rPr sz="4300" spc="-170" dirty="0"/>
              <a:t> </a:t>
            </a:r>
            <a:r>
              <a:rPr sz="4300" spc="-45" dirty="0"/>
              <a:t>Gallery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1084884" y="1687092"/>
            <a:ext cx="9232265" cy="3464560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160655" indent="-147955">
              <a:lnSpc>
                <a:spcPct val="100000"/>
              </a:lnSpc>
              <a:spcBef>
                <a:spcPts val="1250"/>
              </a:spcBef>
              <a:buClr>
                <a:srgbClr val="E84B21"/>
              </a:buClr>
              <a:buFont typeface="Arial"/>
              <a:buChar char="•"/>
              <a:tabLst>
                <a:tab pos="16065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Shows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50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final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generated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images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produced</a:t>
            </a:r>
            <a:r>
              <a:rPr sz="20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using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best-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performing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configuration.</a:t>
            </a:r>
            <a:endParaRPr sz="2000">
              <a:latin typeface="Calibri"/>
              <a:cs typeface="Calibri"/>
            </a:endParaRPr>
          </a:p>
          <a:p>
            <a:pPr marL="160655" indent="-147955">
              <a:lnSpc>
                <a:spcPct val="100000"/>
              </a:lnSpc>
              <a:spcBef>
                <a:spcPts val="1150"/>
              </a:spcBef>
              <a:buClr>
                <a:srgbClr val="E84B21"/>
              </a:buClr>
              <a:buFont typeface="Arial"/>
              <a:buChar char="•"/>
              <a:tabLst>
                <a:tab pos="16065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Captures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core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clothing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attributes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accurately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–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color,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category,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general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shape.</a:t>
            </a:r>
            <a:endParaRPr sz="2000">
              <a:latin typeface="Calibri"/>
              <a:cs typeface="Calibri"/>
            </a:endParaRPr>
          </a:p>
          <a:p>
            <a:pPr marL="160655" indent="-147955">
              <a:lnSpc>
                <a:spcPct val="100000"/>
              </a:lnSpc>
              <a:spcBef>
                <a:spcPts val="1180"/>
              </a:spcBef>
              <a:buClr>
                <a:srgbClr val="E84B21"/>
              </a:buClr>
              <a:buFont typeface="Arial"/>
              <a:buChar char="•"/>
              <a:tabLst>
                <a:tab pos="16065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Produces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simple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clean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backgrounds,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keeping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focus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product.</a:t>
            </a:r>
            <a:endParaRPr sz="2000">
              <a:latin typeface="Calibri"/>
              <a:cs typeface="Calibri"/>
            </a:endParaRPr>
          </a:p>
          <a:p>
            <a:pPr marL="160655" indent="-147955">
              <a:lnSpc>
                <a:spcPct val="100000"/>
              </a:lnSpc>
              <a:spcBef>
                <a:spcPts val="1150"/>
              </a:spcBef>
              <a:buClr>
                <a:srgbClr val="E84B21"/>
              </a:buClr>
              <a:buFont typeface="Arial"/>
              <a:buChar char="•"/>
              <a:tabLst>
                <a:tab pos="160655" algn="l"/>
              </a:tabLst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Demonstrates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good</a:t>
            </a:r>
            <a:r>
              <a:rPr sz="20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text-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prompt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alignment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0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shirts,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watches,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handbags,</a:t>
            </a:r>
            <a:r>
              <a:rPr sz="20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footwear.</a:t>
            </a:r>
            <a:endParaRPr sz="2000">
              <a:latin typeface="Calibri"/>
              <a:cs typeface="Calibri"/>
            </a:endParaRPr>
          </a:p>
          <a:p>
            <a:pPr marL="103505" indent="-101600">
              <a:lnSpc>
                <a:spcPct val="100000"/>
              </a:lnSpc>
              <a:spcBef>
                <a:spcPts val="1155"/>
              </a:spcBef>
              <a:buClr>
                <a:srgbClr val="E84B21"/>
              </a:buClr>
              <a:buFont typeface="Arial"/>
              <a:buChar char="•"/>
              <a:tabLst>
                <a:tab pos="10350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Some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images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show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softness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minor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artifacts,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especially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detailed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areas.</a:t>
            </a:r>
            <a:endParaRPr sz="2000">
              <a:latin typeface="Calibri"/>
              <a:cs typeface="Calibri"/>
            </a:endParaRPr>
          </a:p>
          <a:p>
            <a:pPr marL="160655" indent="-147955">
              <a:lnSpc>
                <a:spcPct val="100000"/>
              </a:lnSpc>
              <a:spcBef>
                <a:spcPts val="1180"/>
              </a:spcBef>
              <a:buClr>
                <a:srgbClr val="E84B21"/>
              </a:buClr>
              <a:buFont typeface="Arial"/>
              <a:buChar char="•"/>
              <a:tabLst>
                <a:tab pos="16065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Logo,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patterns,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fine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textures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not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always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rendered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correctly.</a:t>
            </a:r>
            <a:endParaRPr sz="2000">
              <a:latin typeface="Calibri"/>
              <a:cs typeface="Calibri"/>
            </a:endParaRPr>
          </a:p>
          <a:p>
            <a:pPr marL="160655" indent="-147955">
              <a:lnSpc>
                <a:spcPts val="2280"/>
              </a:lnSpc>
              <a:spcBef>
                <a:spcPts val="1150"/>
              </a:spcBef>
              <a:buClr>
                <a:srgbClr val="E84B21"/>
              </a:buClr>
              <a:buFont typeface="Arial"/>
              <a:buChar char="•"/>
              <a:tabLst>
                <a:tab pos="160655" algn="l"/>
              </a:tabLst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Highlights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model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strengths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(overall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structure,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color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accuracy)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endParaRPr sz="2000">
              <a:latin typeface="Calibri"/>
              <a:cs typeface="Calibri"/>
            </a:endParaRPr>
          </a:p>
          <a:p>
            <a:pPr marL="103505">
              <a:lnSpc>
                <a:spcPts val="2280"/>
              </a:lnSpc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limitations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(fine-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grain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texture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realism,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small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text,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branding).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541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Ethical</a:t>
            </a:r>
            <a:r>
              <a:rPr spc="-215" dirty="0"/>
              <a:t> </a:t>
            </a:r>
            <a:r>
              <a:rPr spc="-85" dirty="0"/>
              <a:t>Considerations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18244" rIns="0" bIns="0" rtlCol="0">
            <a:spAutoFit/>
          </a:bodyPr>
          <a:lstStyle/>
          <a:p>
            <a:pPr marL="1112520">
              <a:lnSpc>
                <a:spcPct val="100000"/>
              </a:lnSpc>
              <a:spcBef>
                <a:spcPts val="1255"/>
              </a:spcBef>
            </a:pPr>
            <a:r>
              <a:rPr dirty="0">
                <a:latin typeface="Wingdings"/>
                <a:cs typeface="Wingdings"/>
              </a:rPr>
              <a:t></a:t>
            </a:r>
            <a:r>
              <a:rPr spc="-110" dirty="0">
                <a:latin typeface="Times New Roman"/>
                <a:cs typeface="Times New Roman"/>
              </a:rPr>
              <a:t> </a:t>
            </a:r>
            <a:r>
              <a:rPr spc="-20" dirty="0"/>
              <a:t>AI-</a:t>
            </a:r>
            <a:r>
              <a:rPr spc="-10" dirty="0"/>
              <a:t>generated </a:t>
            </a:r>
            <a:r>
              <a:rPr dirty="0"/>
              <a:t>products</a:t>
            </a:r>
            <a:r>
              <a:rPr spc="-85" dirty="0"/>
              <a:t> </a:t>
            </a:r>
            <a:r>
              <a:rPr dirty="0"/>
              <a:t>can</a:t>
            </a:r>
            <a:r>
              <a:rPr spc="-70" dirty="0"/>
              <a:t> </a:t>
            </a:r>
            <a:r>
              <a:rPr dirty="0"/>
              <a:t>mislead users</a:t>
            </a:r>
            <a:r>
              <a:rPr spc="-65" dirty="0"/>
              <a:t> </a:t>
            </a:r>
            <a:r>
              <a:rPr dirty="0"/>
              <a:t>without</a:t>
            </a:r>
            <a:r>
              <a:rPr spc="-70" dirty="0"/>
              <a:t> </a:t>
            </a:r>
            <a:r>
              <a:rPr spc="-10" dirty="0"/>
              <a:t>labelling</a:t>
            </a:r>
          </a:p>
          <a:p>
            <a:pPr marL="1112520">
              <a:lnSpc>
                <a:spcPct val="100000"/>
              </a:lnSpc>
              <a:spcBef>
                <a:spcPts val="1155"/>
              </a:spcBef>
            </a:pPr>
            <a:r>
              <a:rPr dirty="0">
                <a:latin typeface="Wingdings"/>
                <a:cs typeface="Wingdings"/>
              </a:rPr>
              <a:t></a:t>
            </a:r>
            <a:r>
              <a:rPr spc="-120" dirty="0">
                <a:latin typeface="Times New Roman"/>
                <a:cs typeface="Times New Roman"/>
              </a:rPr>
              <a:t> </a:t>
            </a:r>
            <a:r>
              <a:rPr dirty="0"/>
              <a:t>Possible</a:t>
            </a:r>
            <a:r>
              <a:rPr spc="-55" dirty="0"/>
              <a:t> </a:t>
            </a:r>
            <a:r>
              <a:rPr spc="-10" dirty="0"/>
              <a:t>copyright</a:t>
            </a:r>
            <a:r>
              <a:rPr spc="-80" dirty="0"/>
              <a:t> </a:t>
            </a:r>
            <a:r>
              <a:rPr dirty="0"/>
              <a:t>issues</a:t>
            </a:r>
            <a:r>
              <a:rPr spc="-35" dirty="0"/>
              <a:t> </a:t>
            </a:r>
            <a:r>
              <a:rPr dirty="0"/>
              <a:t>when</a:t>
            </a:r>
            <a:r>
              <a:rPr spc="-85" dirty="0"/>
              <a:t> </a:t>
            </a:r>
            <a:r>
              <a:rPr dirty="0"/>
              <a:t>images</a:t>
            </a:r>
            <a:r>
              <a:rPr spc="-35" dirty="0"/>
              <a:t> </a:t>
            </a:r>
            <a:r>
              <a:rPr dirty="0"/>
              <a:t>resemble</a:t>
            </a:r>
            <a:r>
              <a:rPr spc="-30" dirty="0"/>
              <a:t> </a:t>
            </a:r>
            <a:r>
              <a:rPr dirty="0"/>
              <a:t>branded</a:t>
            </a:r>
            <a:r>
              <a:rPr spc="-85" dirty="0"/>
              <a:t> </a:t>
            </a:r>
            <a:r>
              <a:rPr spc="-10" dirty="0"/>
              <a:t>items</a:t>
            </a:r>
          </a:p>
          <a:p>
            <a:pPr marL="1112520">
              <a:lnSpc>
                <a:spcPct val="100000"/>
              </a:lnSpc>
              <a:spcBef>
                <a:spcPts val="1155"/>
              </a:spcBef>
            </a:pPr>
            <a:r>
              <a:rPr dirty="0">
                <a:latin typeface="Wingdings"/>
                <a:cs typeface="Wingdings"/>
              </a:rPr>
              <a:t>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dirty="0"/>
              <a:t>Dataset</a:t>
            </a:r>
            <a:r>
              <a:rPr spc="-40" dirty="0"/>
              <a:t> </a:t>
            </a:r>
            <a:r>
              <a:rPr dirty="0"/>
              <a:t>bias</a:t>
            </a:r>
            <a:r>
              <a:rPr spc="-45" dirty="0"/>
              <a:t> </a:t>
            </a:r>
            <a:r>
              <a:rPr dirty="0"/>
              <a:t>can</a:t>
            </a:r>
            <a:r>
              <a:rPr spc="-55" dirty="0"/>
              <a:t> </a:t>
            </a:r>
            <a:r>
              <a:rPr dirty="0"/>
              <a:t>amplify</a:t>
            </a:r>
            <a:r>
              <a:rPr spc="-35" dirty="0"/>
              <a:t> </a:t>
            </a:r>
            <a:r>
              <a:rPr spc="-10" dirty="0"/>
              <a:t>stereotypes</a:t>
            </a:r>
          </a:p>
          <a:p>
            <a:pPr marL="1112520">
              <a:lnSpc>
                <a:spcPct val="100000"/>
              </a:lnSpc>
              <a:spcBef>
                <a:spcPts val="1175"/>
              </a:spcBef>
            </a:pPr>
            <a:r>
              <a:rPr dirty="0">
                <a:latin typeface="Wingdings"/>
                <a:cs typeface="Wingdings"/>
              </a:rPr>
              <a:t>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spc="-10" dirty="0"/>
              <a:t>Diffusion</a:t>
            </a:r>
            <a:r>
              <a:rPr spc="-35" dirty="0"/>
              <a:t> </a:t>
            </a:r>
            <a:r>
              <a:rPr dirty="0"/>
              <a:t>models</a:t>
            </a:r>
            <a:r>
              <a:rPr spc="-40" dirty="0"/>
              <a:t> </a:t>
            </a:r>
            <a:r>
              <a:rPr dirty="0"/>
              <a:t>consume</a:t>
            </a:r>
            <a:r>
              <a:rPr spc="-30" dirty="0"/>
              <a:t> </a:t>
            </a:r>
            <a:r>
              <a:rPr dirty="0"/>
              <a:t>notable</a:t>
            </a:r>
            <a:r>
              <a:rPr spc="-80" dirty="0"/>
              <a:t> </a:t>
            </a:r>
            <a:r>
              <a:rPr spc="-10" dirty="0"/>
              <a:t>compute</a:t>
            </a:r>
            <a:r>
              <a:rPr spc="-50" dirty="0"/>
              <a:t> </a:t>
            </a:r>
            <a:r>
              <a:rPr spc="-10" dirty="0"/>
              <a:t>resources</a:t>
            </a:r>
          </a:p>
          <a:p>
            <a:pPr marL="951230">
              <a:lnSpc>
                <a:spcPct val="100000"/>
              </a:lnSpc>
              <a:spcBef>
                <a:spcPts val="1130"/>
              </a:spcBef>
            </a:pPr>
            <a:r>
              <a:rPr b="1" spc="-10" dirty="0">
                <a:latin typeface="Calibri"/>
                <a:cs typeface="Calibri"/>
              </a:rPr>
              <a:t>Mitigation:</a:t>
            </a:r>
          </a:p>
          <a:p>
            <a:pPr marL="1112520">
              <a:lnSpc>
                <a:spcPct val="100000"/>
              </a:lnSpc>
              <a:spcBef>
                <a:spcPts val="1180"/>
              </a:spcBef>
            </a:pPr>
            <a:r>
              <a:rPr dirty="0">
                <a:latin typeface="Wingdings"/>
                <a:cs typeface="Wingdings"/>
              </a:rPr>
              <a:t></a:t>
            </a:r>
            <a:r>
              <a:rPr spc="-70" dirty="0">
                <a:latin typeface="Times New Roman"/>
                <a:cs typeface="Times New Roman"/>
              </a:rPr>
              <a:t> </a:t>
            </a:r>
            <a:r>
              <a:rPr dirty="0"/>
              <a:t>Clear labeling</a:t>
            </a:r>
            <a:r>
              <a:rPr spc="-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AI</a:t>
            </a:r>
            <a:r>
              <a:rPr spc="-35" dirty="0"/>
              <a:t> </a:t>
            </a:r>
            <a:r>
              <a:rPr spc="-10" dirty="0"/>
              <a:t>images</a:t>
            </a:r>
          </a:p>
          <a:p>
            <a:pPr marL="1112520">
              <a:lnSpc>
                <a:spcPct val="100000"/>
              </a:lnSpc>
              <a:spcBef>
                <a:spcPts val="1175"/>
              </a:spcBef>
            </a:pPr>
            <a:r>
              <a:rPr dirty="0">
                <a:latin typeface="Wingdings"/>
                <a:cs typeface="Wingdings"/>
              </a:rPr>
              <a:t>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spc="-10" dirty="0"/>
              <a:t>Diverse</a:t>
            </a:r>
            <a:r>
              <a:rPr spc="-15" dirty="0"/>
              <a:t> </a:t>
            </a:r>
            <a:r>
              <a:rPr spc="-10" dirty="0"/>
              <a:t>datasets</a:t>
            </a:r>
          </a:p>
          <a:p>
            <a:pPr marL="1112520">
              <a:lnSpc>
                <a:spcPct val="100000"/>
              </a:lnSpc>
              <a:spcBef>
                <a:spcPts val="1155"/>
              </a:spcBef>
            </a:pPr>
            <a:r>
              <a:rPr dirty="0">
                <a:latin typeface="Wingdings"/>
                <a:cs typeface="Wingdings"/>
              </a:rPr>
              <a:t>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dirty="0"/>
              <a:t>Human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40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dirty="0"/>
              <a:t>real</a:t>
            </a:r>
            <a:r>
              <a:rPr spc="-25" dirty="0"/>
              <a:t> </a:t>
            </a:r>
            <a:r>
              <a:rPr dirty="0"/>
              <a:t>use</a:t>
            </a:r>
            <a:r>
              <a:rPr spc="-40" dirty="0"/>
              <a:t> </a:t>
            </a:r>
            <a:r>
              <a:rPr spc="-10" dirty="0"/>
              <a:t>cases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B87E9-02FF-436D-7A01-AEC31497A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96523"/>
            <a:ext cx="11014710" cy="738664"/>
          </a:xfrm>
        </p:spPr>
        <p:txBody>
          <a:bodyPr/>
          <a:lstStyle/>
          <a:p>
            <a:pPr algn="ctr"/>
            <a:r>
              <a:rPr lang="en-US" dirty="0" err="1"/>
              <a:t>Gradio</a:t>
            </a:r>
            <a:r>
              <a:rPr lang="en-US" dirty="0"/>
              <a:t> UI for Interactive Image Generation </a:t>
            </a:r>
          </a:p>
        </p:txBody>
      </p:sp>
      <p:pic>
        <p:nvPicPr>
          <p:cNvPr id="5" name="Picture 4" descr="A screenshot of a video editor&#10;&#10;AI-generated content may be incorrect.">
            <a:extLst>
              <a:ext uri="{FF2B5EF4-FFF2-40B4-BE49-F238E27FC236}">
                <a16:creationId xmlns:a16="http://schemas.microsoft.com/office/drawing/2014/main" id="{87D9FF77-E1D7-50CF-0D32-311C000BE6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905000"/>
            <a:ext cx="7772400" cy="4176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4806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A9219-3C84-9B91-DD94-9CEE814ED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GitHub + Demo Video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9C52A-542E-30C5-6A84-93EF685BCF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6617" y="1981200"/>
            <a:ext cx="11014710" cy="176048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Access the Full Project Repository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https://github.com/nishanth3112/fashion_product_image_gen_project</a:t>
            </a:r>
            <a:endParaRPr lang="en-US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Demo Video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42B820-99E2-1241-2BF7-B8AAB4A96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124200"/>
            <a:ext cx="6858000" cy="298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594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446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Conclusion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0584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700" dirty="0"/>
              <a:t>This</a:t>
            </a:r>
            <a:r>
              <a:rPr sz="1700" spc="-65" dirty="0"/>
              <a:t> </a:t>
            </a:r>
            <a:r>
              <a:rPr sz="1700" dirty="0"/>
              <a:t>project</a:t>
            </a:r>
            <a:r>
              <a:rPr sz="1700" spc="-20" dirty="0"/>
              <a:t> </a:t>
            </a:r>
            <a:r>
              <a:rPr sz="1700" dirty="0"/>
              <a:t>successfully</a:t>
            </a:r>
            <a:r>
              <a:rPr sz="1700" spc="-25" dirty="0"/>
              <a:t> </a:t>
            </a:r>
            <a:r>
              <a:rPr sz="1700" dirty="0"/>
              <a:t>built</a:t>
            </a:r>
            <a:r>
              <a:rPr sz="1700" spc="-40" dirty="0"/>
              <a:t> </a:t>
            </a:r>
            <a:r>
              <a:rPr sz="1700" dirty="0"/>
              <a:t>a</a:t>
            </a:r>
            <a:r>
              <a:rPr sz="1700" spc="-45" dirty="0"/>
              <a:t> </a:t>
            </a:r>
            <a:r>
              <a:rPr sz="1700" spc="-10" dirty="0"/>
              <a:t>complete</a:t>
            </a:r>
            <a:r>
              <a:rPr sz="1700" spc="-5" dirty="0"/>
              <a:t> </a:t>
            </a:r>
            <a:r>
              <a:rPr sz="1700" spc="-10" dirty="0"/>
              <a:t>prompt</a:t>
            </a:r>
            <a:r>
              <a:rPr sz="1700" spc="-65" dirty="0"/>
              <a:t> </a:t>
            </a:r>
            <a:r>
              <a:rPr sz="1700" dirty="0"/>
              <a:t>→</a:t>
            </a:r>
            <a:r>
              <a:rPr sz="1700" spc="-50" dirty="0"/>
              <a:t> </a:t>
            </a:r>
            <a:r>
              <a:rPr sz="1700" dirty="0"/>
              <a:t>image</a:t>
            </a:r>
            <a:r>
              <a:rPr sz="1700" spc="-30" dirty="0"/>
              <a:t> </a:t>
            </a:r>
            <a:r>
              <a:rPr sz="1700" spc="-10" dirty="0"/>
              <a:t>generation </a:t>
            </a:r>
            <a:r>
              <a:rPr sz="1700" dirty="0"/>
              <a:t>pipeline</a:t>
            </a:r>
            <a:r>
              <a:rPr sz="1700" spc="-35" dirty="0"/>
              <a:t> </a:t>
            </a:r>
            <a:r>
              <a:rPr sz="1700" dirty="0"/>
              <a:t>using</a:t>
            </a:r>
            <a:r>
              <a:rPr sz="1700" spc="-50" dirty="0"/>
              <a:t> </a:t>
            </a:r>
            <a:r>
              <a:rPr sz="1700" dirty="0"/>
              <a:t>Stable</a:t>
            </a:r>
            <a:r>
              <a:rPr sz="1700" spc="-50" dirty="0"/>
              <a:t> </a:t>
            </a:r>
            <a:r>
              <a:rPr sz="1700" dirty="0"/>
              <a:t>Diffusion</a:t>
            </a:r>
            <a:r>
              <a:rPr sz="1700" spc="-30" dirty="0"/>
              <a:t> </a:t>
            </a:r>
            <a:r>
              <a:rPr sz="1700" dirty="0"/>
              <a:t>+</a:t>
            </a:r>
            <a:r>
              <a:rPr sz="1700" spc="-50" dirty="0"/>
              <a:t> </a:t>
            </a:r>
            <a:r>
              <a:rPr sz="1700" dirty="0"/>
              <a:t>CLIP</a:t>
            </a:r>
            <a:r>
              <a:rPr sz="1700" spc="-60" dirty="0"/>
              <a:t> </a:t>
            </a:r>
            <a:r>
              <a:rPr sz="1700" dirty="0"/>
              <a:t>an</a:t>
            </a:r>
            <a:r>
              <a:rPr sz="1700" spc="-45" dirty="0"/>
              <a:t> </a:t>
            </a:r>
            <a:r>
              <a:rPr sz="1700" spc="-10" dirty="0"/>
              <a:t>accomplished </a:t>
            </a:r>
            <a:r>
              <a:rPr sz="1700" spc="-50" dirty="0"/>
              <a:t>:</a:t>
            </a:r>
            <a:endParaRPr sz="1700"/>
          </a:p>
          <a:p>
            <a:pPr marL="267970" indent="-158115">
              <a:lnSpc>
                <a:spcPct val="100000"/>
              </a:lnSpc>
              <a:spcBef>
                <a:spcPts val="600"/>
              </a:spcBef>
              <a:buChar char="*"/>
              <a:tabLst>
                <a:tab pos="267970" algn="l"/>
              </a:tabLst>
            </a:pPr>
            <a:r>
              <a:rPr sz="1700" dirty="0"/>
              <a:t>Processed</a:t>
            </a:r>
            <a:r>
              <a:rPr sz="1700" spc="-75" dirty="0"/>
              <a:t> </a:t>
            </a:r>
            <a:r>
              <a:rPr sz="1700" dirty="0"/>
              <a:t>and</a:t>
            </a:r>
            <a:r>
              <a:rPr sz="1700" spc="-85" dirty="0"/>
              <a:t> </a:t>
            </a:r>
            <a:r>
              <a:rPr sz="1700" dirty="0"/>
              <a:t>embedded</a:t>
            </a:r>
            <a:r>
              <a:rPr sz="1700" spc="-25" dirty="0"/>
              <a:t> </a:t>
            </a:r>
            <a:r>
              <a:rPr sz="1700" dirty="0"/>
              <a:t>text</a:t>
            </a:r>
            <a:r>
              <a:rPr sz="1700" spc="-50" dirty="0"/>
              <a:t> </a:t>
            </a:r>
            <a:r>
              <a:rPr sz="1700" spc="-10" dirty="0"/>
              <a:t>descriptions</a:t>
            </a:r>
            <a:endParaRPr sz="1700"/>
          </a:p>
          <a:p>
            <a:pPr marL="262255" indent="-158115">
              <a:lnSpc>
                <a:spcPct val="100000"/>
              </a:lnSpc>
              <a:spcBef>
                <a:spcPts val="600"/>
              </a:spcBef>
              <a:buChar char="*"/>
              <a:tabLst>
                <a:tab pos="262255" algn="l"/>
              </a:tabLst>
            </a:pPr>
            <a:r>
              <a:rPr sz="1700" spc="-20" dirty="0"/>
              <a:t>Tuned</a:t>
            </a:r>
            <a:r>
              <a:rPr sz="1700" spc="-80" dirty="0"/>
              <a:t> </a:t>
            </a:r>
            <a:r>
              <a:rPr sz="1700" dirty="0"/>
              <a:t>multiple</a:t>
            </a:r>
            <a:r>
              <a:rPr sz="1700" spc="-50" dirty="0"/>
              <a:t> </a:t>
            </a:r>
            <a:r>
              <a:rPr sz="1700" spc="-10" dirty="0"/>
              <a:t>parameters</a:t>
            </a:r>
            <a:endParaRPr sz="1700"/>
          </a:p>
          <a:p>
            <a:pPr marL="262255" indent="-158115">
              <a:lnSpc>
                <a:spcPct val="100000"/>
              </a:lnSpc>
              <a:spcBef>
                <a:spcPts val="625"/>
              </a:spcBef>
              <a:buChar char="*"/>
              <a:tabLst>
                <a:tab pos="262255" algn="l"/>
              </a:tabLst>
            </a:pPr>
            <a:r>
              <a:rPr sz="1700" spc="-10" dirty="0"/>
              <a:t>Evaluated</a:t>
            </a:r>
            <a:r>
              <a:rPr sz="1700" spc="-50" dirty="0"/>
              <a:t> </a:t>
            </a:r>
            <a:r>
              <a:rPr sz="1700" dirty="0"/>
              <a:t>with</a:t>
            </a:r>
            <a:r>
              <a:rPr sz="1700" spc="-40" dirty="0"/>
              <a:t> </a:t>
            </a:r>
            <a:r>
              <a:rPr sz="1700" spc="-35" dirty="0"/>
              <a:t>CLIP,</a:t>
            </a:r>
            <a:r>
              <a:rPr sz="1700" spc="-55" dirty="0"/>
              <a:t> </a:t>
            </a:r>
            <a:r>
              <a:rPr sz="1700" dirty="0"/>
              <a:t>FID,</a:t>
            </a:r>
            <a:r>
              <a:rPr sz="1700" spc="-80" dirty="0"/>
              <a:t> </a:t>
            </a:r>
            <a:r>
              <a:rPr sz="1700" spc="-25" dirty="0"/>
              <a:t>IS</a:t>
            </a:r>
            <a:endParaRPr sz="1700"/>
          </a:p>
          <a:p>
            <a:pPr marL="262255" indent="-158115">
              <a:lnSpc>
                <a:spcPct val="100000"/>
              </a:lnSpc>
              <a:spcBef>
                <a:spcPts val="600"/>
              </a:spcBef>
              <a:buChar char="*"/>
              <a:tabLst>
                <a:tab pos="262255" algn="l"/>
              </a:tabLst>
            </a:pPr>
            <a:r>
              <a:rPr sz="1700" dirty="0"/>
              <a:t>Built</a:t>
            </a:r>
            <a:r>
              <a:rPr sz="1700" spc="-55" dirty="0"/>
              <a:t> </a:t>
            </a:r>
            <a:r>
              <a:rPr sz="1700" dirty="0"/>
              <a:t>a</a:t>
            </a:r>
            <a:r>
              <a:rPr sz="1700" spc="-25" dirty="0"/>
              <a:t> </a:t>
            </a:r>
            <a:r>
              <a:rPr sz="1700" dirty="0"/>
              <a:t>final</a:t>
            </a:r>
            <a:r>
              <a:rPr sz="1700" spc="-20" dirty="0"/>
              <a:t> </a:t>
            </a:r>
            <a:r>
              <a:rPr sz="1700" dirty="0"/>
              <a:t>gallery</a:t>
            </a:r>
            <a:r>
              <a:rPr sz="1700" spc="-25" dirty="0"/>
              <a:t> </a:t>
            </a:r>
            <a:r>
              <a:rPr sz="1700" dirty="0"/>
              <a:t>of</a:t>
            </a:r>
            <a:r>
              <a:rPr sz="1700" spc="-5" dirty="0"/>
              <a:t> </a:t>
            </a:r>
            <a:r>
              <a:rPr sz="1700" dirty="0"/>
              <a:t>50</a:t>
            </a:r>
            <a:r>
              <a:rPr sz="1700" spc="-30" dirty="0"/>
              <a:t> </a:t>
            </a:r>
            <a:r>
              <a:rPr sz="1700" spc="-10" dirty="0"/>
              <a:t>images</a:t>
            </a:r>
            <a:endParaRPr sz="1700"/>
          </a:p>
          <a:p>
            <a:pPr marL="104139">
              <a:lnSpc>
                <a:spcPct val="100000"/>
              </a:lnSpc>
              <a:spcBef>
                <a:spcPts val="600"/>
              </a:spcBef>
            </a:pPr>
            <a:r>
              <a:rPr sz="1700" b="1" spc="-10" dirty="0">
                <a:latin typeface="Calibri"/>
                <a:cs typeface="Calibri"/>
              </a:rPr>
              <a:t>Strengths:</a:t>
            </a:r>
            <a:endParaRPr sz="1700">
              <a:latin typeface="Calibri"/>
              <a:cs typeface="Calibri"/>
            </a:endParaRPr>
          </a:p>
          <a:p>
            <a:pPr marL="262255" indent="-158115">
              <a:lnSpc>
                <a:spcPct val="100000"/>
              </a:lnSpc>
              <a:spcBef>
                <a:spcPts val="605"/>
              </a:spcBef>
              <a:buChar char="*"/>
              <a:tabLst>
                <a:tab pos="262255" algn="l"/>
              </a:tabLst>
            </a:pPr>
            <a:r>
              <a:rPr sz="1700" dirty="0"/>
              <a:t>Good</a:t>
            </a:r>
            <a:r>
              <a:rPr sz="1700" spc="-75" dirty="0"/>
              <a:t> </a:t>
            </a:r>
            <a:r>
              <a:rPr sz="1700" dirty="0"/>
              <a:t>alignment</a:t>
            </a:r>
            <a:r>
              <a:rPr sz="1700" spc="-25" dirty="0"/>
              <a:t> </a:t>
            </a:r>
            <a:r>
              <a:rPr sz="1700" dirty="0"/>
              <a:t>with</a:t>
            </a:r>
            <a:r>
              <a:rPr sz="1700" spc="-90" dirty="0"/>
              <a:t> </a:t>
            </a:r>
            <a:r>
              <a:rPr sz="1700" dirty="0"/>
              <a:t>fashion</a:t>
            </a:r>
            <a:r>
              <a:rPr sz="1700" spc="-75" dirty="0"/>
              <a:t> </a:t>
            </a:r>
            <a:r>
              <a:rPr sz="1700" spc="-10" dirty="0"/>
              <a:t>prompts</a:t>
            </a:r>
            <a:endParaRPr sz="1700"/>
          </a:p>
          <a:p>
            <a:pPr marL="262255" indent="-158115">
              <a:lnSpc>
                <a:spcPct val="100000"/>
              </a:lnSpc>
              <a:spcBef>
                <a:spcPts val="600"/>
              </a:spcBef>
              <a:buChar char="*"/>
              <a:tabLst>
                <a:tab pos="262255" algn="l"/>
              </a:tabLst>
            </a:pPr>
            <a:r>
              <a:rPr sz="1700" dirty="0"/>
              <a:t>Stable</a:t>
            </a:r>
            <a:r>
              <a:rPr sz="1700" spc="-60" dirty="0"/>
              <a:t> </a:t>
            </a:r>
            <a:r>
              <a:rPr sz="1700" spc="-10" dirty="0"/>
              <a:t>generation</a:t>
            </a:r>
            <a:r>
              <a:rPr sz="1700" spc="10" dirty="0"/>
              <a:t> </a:t>
            </a:r>
            <a:r>
              <a:rPr sz="1700" dirty="0"/>
              <a:t>at</a:t>
            </a:r>
            <a:r>
              <a:rPr sz="1700" spc="-25" dirty="0"/>
              <a:t> </a:t>
            </a:r>
            <a:r>
              <a:rPr sz="1700" dirty="0"/>
              <a:t>guidance</a:t>
            </a:r>
            <a:r>
              <a:rPr sz="1700" spc="-20" dirty="0"/>
              <a:t> </a:t>
            </a:r>
            <a:r>
              <a:rPr sz="1700" dirty="0"/>
              <a:t>9.0</a:t>
            </a:r>
            <a:r>
              <a:rPr sz="1700" spc="-25" dirty="0"/>
              <a:t> </a:t>
            </a:r>
            <a:r>
              <a:rPr sz="1700" dirty="0"/>
              <a:t>&amp;</a:t>
            </a:r>
            <a:r>
              <a:rPr sz="1700" spc="-20" dirty="0"/>
              <a:t> </a:t>
            </a:r>
            <a:r>
              <a:rPr sz="1700" dirty="0"/>
              <a:t>50</a:t>
            </a:r>
            <a:r>
              <a:rPr sz="1700" spc="-25" dirty="0"/>
              <a:t> </a:t>
            </a:r>
            <a:r>
              <a:rPr sz="1700" spc="-10" dirty="0"/>
              <a:t>steps</a:t>
            </a:r>
            <a:endParaRPr sz="1700"/>
          </a:p>
          <a:p>
            <a:pPr marL="104139">
              <a:lnSpc>
                <a:spcPct val="100000"/>
              </a:lnSpc>
              <a:spcBef>
                <a:spcPts val="600"/>
              </a:spcBef>
            </a:pPr>
            <a:r>
              <a:rPr sz="1700" b="1" spc="-10" dirty="0">
                <a:latin typeface="Calibri"/>
                <a:cs typeface="Calibri"/>
              </a:rPr>
              <a:t>Limitations:</a:t>
            </a:r>
            <a:endParaRPr sz="1700">
              <a:latin typeface="Calibri"/>
              <a:cs typeface="Calibri"/>
            </a:endParaRPr>
          </a:p>
          <a:p>
            <a:pPr marL="262255" indent="-158115">
              <a:lnSpc>
                <a:spcPct val="100000"/>
              </a:lnSpc>
              <a:spcBef>
                <a:spcPts val="625"/>
              </a:spcBef>
              <a:buChar char="*"/>
              <a:tabLst>
                <a:tab pos="262255" algn="l"/>
              </a:tabLst>
            </a:pPr>
            <a:r>
              <a:rPr sz="1700" dirty="0"/>
              <a:t>Low</a:t>
            </a:r>
            <a:r>
              <a:rPr sz="1700" spc="-65" dirty="0"/>
              <a:t> </a:t>
            </a:r>
            <a:r>
              <a:rPr sz="1700" dirty="0"/>
              <a:t>diversity</a:t>
            </a:r>
            <a:r>
              <a:rPr sz="1700" spc="-45" dirty="0"/>
              <a:t> </a:t>
            </a:r>
            <a:r>
              <a:rPr sz="1700" spc="-20" dirty="0"/>
              <a:t>(IS)</a:t>
            </a:r>
            <a:endParaRPr sz="1700"/>
          </a:p>
          <a:p>
            <a:pPr marL="262255" indent="-158115">
              <a:lnSpc>
                <a:spcPct val="100000"/>
              </a:lnSpc>
              <a:spcBef>
                <a:spcPts val="605"/>
              </a:spcBef>
              <a:buChar char="*"/>
              <a:tabLst>
                <a:tab pos="262255" algn="l"/>
              </a:tabLst>
            </a:pPr>
            <a:r>
              <a:rPr sz="1700" dirty="0"/>
              <a:t>High</a:t>
            </a:r>
            <a:r>
              <a:rPr sz="1700" spc="-55" dirty="0"/>
              <a:t> </a:t>
            </a:r>
            <a:r>
              <a:rPr sz="1700" spc="-25" dirty="0"/>
              <a:t>FID</a:t>
            </a:r>
            <a:endParaRPr sz="1700"/>
          </a:p>
          <a:p>
            <a:pPr marL="262255" indent="-158115">
              <a:lnSpc>
                <a:spcPct val="100000"/>
              </a:lnSpc>
              <a:spcBef>
                <a:spcPts val="600"/>
              </a:spcBef>
              <a:buChar char="*"/>
              <a:tabLst>
                <a:tab pos="262255" algn="l"/>
              </a:tabLst>
            </a:pPr>
            <a:r>
              <a:rPr sz="1700" dirty="0"/>
              <a:t>Some</a:t>
            </a:r>
            <a:r>
              <a:rPr sz="1700" spc="-25" dirty="0"/>
              <a:t> </a:t>
            </a:r>
            <a:r>
              <a:rPr sz="1700" dirty="0"/>
              <a:t>visual</a:t>
            </a:r>
            <a:r>
              <a:rPr sz="1700" spc="-60" dirty="0"/>
              <a:t> </a:t>
            </a:r>
            <a:r>
              <a:rPr sz="1700" spc="-10" dirty="0"/>
              <a:t>artifacts</a:t>
            </a:r>
            <a:endParaRPr sz="17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64709" y="447243"/>
            <a:ext cx="293624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0" dirty="0"/>
              <a:t>Key</a:t>
            </a:r>
            <a:r>
              <a:rPr spc="-215" dirty="0"/>
              <a:t> </a:t>
            </a:r>
            <a:r>
              <a:rPr spc="-60" dirty="0"/>
              <a:t>Findings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1684048"/>
            <a:ext cx="5541645" cy="4553585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Key</a:t>
            </a:r>
            <a:r>
              <a:rPr sz="2000" b="1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Achievements</a:t>
            </a:r>
            <a:endParaRPr sz="2000">
              <a:latin typeface="Calibri"/>
              <a:cs typeface="Calibri"/>
            </a:endParaRPr>
          </a:p>
          <a:p>
            <a:pPr marL="173990">
              <a:lnSpc>
                <a:spcPct val="100000"/>
              </a:lnSpc>
              <a:spcBef>
                <a:spcPts val="1180"/>
              </a:spcBef>
            </a:pPr>
            <a:r>
              <a:rPr sz="2000" dirty="0">
                <a:solidFill>
                  <a:srgbClr val="404040"/>
                </a:solidFill>
                <a:latin typeface="Wingdings"/>
                <a:cs typeface="Wingdings"/>
              </a:rPr>
              <a:t></a:t>
            </a:r>
            <a:r>
              <a:rPr sz="2000" spc="-1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Successfully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generated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fashion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images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20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text</a:t>
            </a:r>
            <a:endParaRPr sz="2000">
              <a:latin typeface="Calibri"/>
              <a:cs typeface="Calibri"/>
            </a:endParaRPr>
          </a:p>
          <a:p>
            <a:pPr marL="173990">
              <a:lnSpc>
                <a:spcPct val="100000"/>
              </a:lnSpc>
              <a:spcBef>
                <a:spcPts val="1150"/>
              </a:spcBef>
            </a:pPr>
            <a:r>
              <a:rPr sz="2000" dirty="0">
                <a:solidFill>
                  <a:srgbClr val="404040"/>
                </a:solidFill>
                <a:latin typeface="Wingdings"/>
                <a:cs typeface="Wingdings"/>
              </a:rPr>
              <a:t></a:t>
            </a:r>
            <a:r>
              <a:rPr sz="2000" spc="-1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Optimized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parameters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through</a:t>
            </a:r>
            <a:r>
              <a:rPr sz="20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systematic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tuning</a:t>
            </a:r>
            <a:endParaRPr sz="2000">
              <a:latin typeface="Calibri"/>
              <a:cs typeface="Calibri"/>
            </a:endParaRPr>
          </a:p>
          <a:p>
            <a:pPr marL="173990">
              <a:lnSpc>
                <a:spcPct val="100000"/>
              </a:lnSpc>
              <a:spcBef>
                <a:spcPts val="1180"/>
              </a:spcBef>
            </a:pPr>
            <a:r>
              <a:rPr sz="2000" dirty="0">
                <a:solidFill>
                  <a:srgbClr val="404040"/>
                </a:solidFill>
                <a:latin typeface="Wingdings"/>
                <a:cs typeface="Wingdings"/>
              </a:rPr>
              <a:t></a:t>
            </a:r>
            <a:r>
              <a:rPr sz="2000" spc="-11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Compared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two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diffusion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models</a:t>
            </a:r>
            <a:endParaRPr sz="2000">
              <a:latin typeface="Calibri"/>
              <a:cs typeface="Calibri"/>
            </a:endParaRPr>
          </a:p>
          <a:p>
            <a:pPr marL="12700" marR="2678430" indent="161290">
              <a:lnSpc>
                <a:spcPts val="3560"/>
              </a:lnSpc>
              <a:spcBef>
                <a:spcPts val="305"/>
              </a:spcBef>
            </a:pPr>
            <a:r>
              <a:rPr sz="2000" dirty="0">
                <a:solidFill>
                  <a:srgbClr val="404040"/>
                </a:solidFill>
                <a:latin typeface="Wingdings"/>
                <a:cs typeface="Wingdings"/>
              </a:rPr>
              <a:t></a:t>
            </a:r>
            <a:r>
              <a:rPr sz="2000" spc="-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Achieved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FID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185.22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Key</a:t>
            </a:r>
            <a:r>
              <a:rPr sz="2000" b="1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Findings</a:t>
            </a:r>
            <a:endParaRPr sz="2000">
              <a:latin typeface="Calibri"/>
              <a:cs typeface="Calibri"/>
            </a:endParaRPr>
          </a:p>
          <a:p>
            <a:pPr marL="173990">
              <a:lnSpc>
                <a:spcPct val="100000"/>
              </a:lnSpc>
              <a:spcBef>
                <a:spcPts val="860"/>
              </a:spcBef>
            </a:pPr>
            <a:r>
              <a:rPr sz="2000" dirty="0">
                <a:solidFill>
                  <a:srgbClr val="404040"/>
                </a:solidFill>
                <a:latin typeface="Wingdings"/>
                <a:cs typeface="Wingdings"/>
              </a:rPr>
              <a:t></a:t>
            </a:r>
            <a:r>
              <a:rPr sz="2000" spc="-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Euler</a:t>
            </a:r>
            <a:r>
              <a:rPr sz="2000" b="1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scheduler</a:t>
            </a: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outperforms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others</a:t>
            </a:r>
            <a:endParaRPr sz="2000">
              <a:latin typeface="Calibri"/>
              <a:cs typeface="Calibri"/>
            </a:endParaRPr>
          </a:p>
          <a:p>
            <a:pPr marL="173990">
              <a:lnSpc>
                <a:spcPct val="100000"/>
              </a:lnSpc>
              <a:spcBef>
                <a:spcPts val="1155"/>
              </a:spcBef>
            </a:pPr>
            <a:r>
              <a:rPr sz="2000" dirty="0">
                <a:solidFill>
                  <a:srgbClr val="404040"/>
                </a:solidFill>
                <a:latin typeface="Wingdings"/>
                <a:cs typeface="Wingdings"/>
              </a:rPr>
              <a:t></a:t>
            </a:r>
            <a:r>
              <a:rPr sz="2000" spc="-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Guidance</a:t>
            </a:r>
            <a:r>
              <a:rPr sz="2000" b="1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9</a:t>
            </a:r>
            <a:r>
              <a:rPr sz="2000" b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gives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best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FID</a:t>
            </a:r>
            <a:endParaRPr sz="2000">
              <a:latin typeface="Calibri"/>
              <a:cs typeface="Calibri"/>
            </a:endParaRPr>
          </a:p>
          <a:p>
            <a:pPr marL="173990">
              <a:lnSpc>
                <a:spcPct val="100000"/>
              </a:lnSpc>
              <a:spcBef>
                <a:spcPts val="1150"/>
              </a:spcBef>
            </a:pPr>
            <a:r>
              <a:rPr sz="2000" dirty="0">
                <a:solidFill>
                  <a:srgbClr val="404040"/>
                </a:solidFill>
                <a:latin typeface="Wingdings"/>
                <a:cs typeface="Wingdings"/>
              </a:rPr>
              <a:t></a:t>
            </a:r>
            <a:r>
              <a:rPr sz="2000" spc="-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Model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choice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matters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less than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tuning</a:t>
            </a:r>
            <a:endParaRPr sz="2000">
              <a:latin typeface="Calibri"/>
              <a:cs typeface="Calibri"/>
            </a:endParaRPr>
          </a:p>
          <a:p>
            <a:pPr marL="173990">
              <a:lnSpc>
                <a:spcPct val="100000"/>
              </a:lnSpc>
              <a:spcBef>
                <a:spcPts val="1180"/>
              </a:spcBef>
            </a:pPr>
            <a:r>
              <a:rPr sz="2000" dirty="0">
                <a:solidFill>
                  <a:srgbClr val="404040"/>
                </a:solidFill>
                <a:latin typeface="Wingdings"/>
                <a:cs typeface="Wingdings"/>
              </a:rPr>
              <a:t></a:t>
            </a:r>
            <a:r>
              <a:rPr sz="2000" spc="-1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Both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models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perform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comparably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12894" y="627710"/>
            <a:ext cx="298132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Future</a:t>
            </a:r>
            <a:r>
              <a:rPr spc="-229" dirty="0"/>
              <a:t> </a:t>
            </a:r>
            <a:r>
              <a:rPr spc="-75" dirty="0"/>
              <a:t>Work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28571" rIns="0" bIns="0" rtlCol="0">
            <a:spAutoFit/>
          </a:bodyPr>
          <a:lstStyle/>
          <a:p>
            <a:pPr marL="1112520">
              <a:lnSpc>
                <a:spcPct val="100000"/>
              </a:lnSpc>
              <a:spcBef>
                <a:spcPts val="90"/>
              </a:spcBef>
            </a:pPr>
            <a:r>
              <a:rPr dirty="0">
                <a:latin typeface="Wingdings"/>
                <a:cs typeface="Wingdings"/>
              </a:rPr>
              <a:t>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dirty="0"/>
              <a:t>Larger</a:t>
            </a:r>
            <a:r>
              <a:rPr spc="-35" dirty="0"/>
              <a:t> </a:t>
            </a:r>
            <a:r>
              <a:rPr spc="-10" dirty="0"/>
              <a:t>dataset</a:t>
            </a:r>
          </a:p>
          <a:p>
            <a:pPr marL="1112520">
              <a:lnSpc>
                <a:spcPct val="100000"/>
              </a:lnSpc>
              <a:spcBef>
                <a:spcPts val="1875"/>
              </a:spcBef>
            </a:pPr>
            <a:r>
              <a:rPr dirty="0">
                <a:latin typeface="Wingdings"/>
                <a:cs typeface="Wingdings"/>
              </a:rPr>
              <a:t></a:t>
            </a:r>
            <a:r>
              <a:rPr spc="-75" dirty="0">
                <a:latin typeface="Times New Roman"/>
                <a:cs typeface="Times New Roman"/>
              </a:rPr>
              <a:t> </a:t>
            </a:r>
            <a:r>
              <a:rPr spc="-20" dirty="0"/>
              <a:t>Fine-</a:t>
            </a:r>
            <a:r>
              <a:rPr dirty="0"/>
              <a:t>tuning</a:t>
            </a:r>
            <a:r>
              <a:rPr spc="-25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diffusion</a:t>
            </a:r>
            <a:r>
              <a:rPr spc="-5" dirty="0"/>
              <a:t> </a:t>
            </a:r>
            <a:r>
              <a:rPr spc="-10" dirty="0"/>
              <a:t>model</a:t>
            </a:r>
          </a:p>
          <a:p>
            <a:pPr marL="1112520">
              <a:lnSpc>
                <a:spcPct val="100000"/>
              </a:lnSpc>
              <a:spcBef>
                <a:spcPts val="1895"/>
              </a:spcBef>
            </a:pPr>
            <a:r>
              <a:rPr dirty="0">
                <a:latin typeface="Wingdings"/>
                <a:cs typeface="Wingdings"/>
              </a:rPr>
              <a:t></a:t>
            </a:r>
            <a:r>
              <a:rPr spc="-75" dirty="0">
                <a:latin typeface="Times New Roman"/>
                <a:cs typeface="Times New Roman"/>
              </a:rPr>
              <a:t> </a:t>
            </a:r>
            <a:r>
              <a:rPr spc="-10" dirty="0"/>
              <a:t>Optimization</a:t>
            </a:r>
            <a:r>
              <a:rPr spc="-4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scheduler</a:t>
            </a:r>
            <a:r>
              <a:rPr spc="5" dirty="0"/>
              <a:t> </a:t>
            </a:r>
            <a:r>
              <a:rPr spc="-10" dirty="0"/>
              <a:t>choices</a:t>
            </a:r>
          </a:p>
          <a:p>
            <a:pPr marL="1112520">
              <a:lnSpc>
                <a:spcPct val="100000"/>
              </a:lnSpc>
              <a:spcBef>
                <a:spcPts val="1875"/>
              </a:spcBef>
            </a:pPr>
            <a:r>
              <a:rPr dirty="0">
                <a:latin typeface="Wingdings"/>
                <a:cs typeface="Wingdings"/>
              </a:rPr>
              <a:t>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dirty="0"/>
              <a:t>Using</a:t>
            </a:r>
            <a:r>
              <a:rPr spc="-35" dirty="0"/>
              <a:t> </a:t>
            </a:r>
            <a:r>
              <a:rPr dirty="0"/>
              <a:t>DreamBooth</a:t>
            </a:r>
            <a:r>
              <a:rPr spc="-20" dirty="0"/>
              <a:t> </a:t>
            </a:r>
            <a:r>
              <a:rPr dirty="0"/>
              <a:t>or</a:t>
            </a:r>
            <a:r>
              <a:rPr spc="-75" dirty="0"/>
              <a:t> </a:t>
            </a:r>
            <a:r>
              <a:rPr dirty="0"/>
              <a:t>LoRA</a:t>
            </a:r>
            <a:r>
              <a:rPr spc="-35" dirty="0"/>
              <a:t> </a:t>
            </a:r>
            <a:r>
              <a:rPr dirty="0"/>
              <a:t>for</a:t>
            </a:r>
            <a:r>
              <a:rPr spc="-55" dirty="0"/>
              <a:t> </a:t>
            </a:r>
            <a:r>
              <a:rPr dirty="0"/>
              <a:t>style</a:t>
            </a:r>
            <a:r>
              <a:rPr spc="-45" dirty="0"/>
              <a:t> </a:t>
            </a:r>
            <a:r>
              <a:rPr spc="-10" dirty="0"/>
              <a:t>control</a:t>
            </a:r>
          </a:p>
          <a:p>
            <a:pPr marL="1112520">
              <a:lnSpc>
                <a:spcPct val="100000"/>
              </a:lnSpc>
              <a:spcBef>
                <a:spcPts val="1370"/>
              </a:spcBef>
            </a:pPr>
            <a:r>
              <a:rPr dirty="0">
                <a:latin typeface="Wingdings"/>
                <a:cs typeface="Wingdings"/>
              </a:rPr>
              <a:t>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dirty="0"/>
              <a:t>Build</a:t>
            </a:r>
            <a:r>
              <a:rPr spc="-45" dirty="0"/>
              <a:t> </a:t>
            </a:r>
            <a:r>
              <a:rPr dirty="0"/>
              <a:t>an</a:t>
            </a:r>
            <a:r>
              <a:rPr spc="-60" dirty="0"/>
              <a:t> </a:t>
            </a:r>
            <a:r>
              <a:rPr spc="-10" dirty="0"/>
              <a:t>end-</a:t>
            </a:r>
            <a:r>
              <a:rPr spc="-25" dirty="0"/>
              <a:t>to-</a:t>
            </a:r>
            <a:r>
              <a:rPr dirty="0"/>
              <a:t>end</a:t>
            </a:r>
            <a:r>
              <a:rPr spc="-25" dirty="0"/>
              <a:t> </a:t>
            </a:r>
            <a:r>
              <a:rPr dirty="0"/>
              <a:t>product</a:t>
            </a:r>
            <a:r>
              <a:rPr spc="-50" dirty="0"/>
              <a:t> </a:t>
            </a:r>
            <a:r>
              <a:rPr dirty="0"/>
              <a:t>catalog</a:t>
            </a:r>
            <a:r>
              <a:rPr spc="-30" dirty="0"/>
              <a:t> </a:t>
            </a:r>
            <a:r>
              <a:rPr spc="-10" dirty="0"/>
              <a:t>pipeline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4816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16553" y="2567381"/>
            <a:ext cx="490093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spc="-80" dirty="0"/>
              <a:t>Thank</a:t>
            </a:r>
            <a:r>
              <a:rPr sz="9600" spc="-459" dirty="0"/>
              <a:t> </a:t>
            </a:r>
            <a:r>
              <a:rPr sz="9600" spc="-830" dirty="0"/>
              <a:t>Y</a:t>
            </a:r>
            <a:r>
              <a:rPr sz="9600" spc="-160" dirty="0"/>
              <a:t>o</a:t>
            </a:r>
            <a:r>
              <a:rPr sz="9600" spc="-40" dirty="0"/>
              <a:t>u</a:t>
            </a:r>
            <a:endParaRPr sz="9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1236</Words>
  <Application>Microsoft Macintosh PowerPoint</Application>
  <PresentationFormat>Widescreen</PresentationFormat>
  <Paragraphs>184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Calibri Light</vt:lpstr>
      <vt:lpstr>Segoe UI Symbol</vt:lpstr>
      <vt:lpstr>Times New Roman</vt:lpstr>
      <vt:lpstr>Wingdings</vt:lpstr>
      <vt:lpstr>Office Theme</vt:lpstr>
      <vt:lpstr>Fashion Product Image Generation Using Diffusion Models</vt:lpstr>
      <vt:lpstr>Problem Statement</vt:lpstr>
      <vt:lpstr>Approach</vt:lpstr>
      <vt:lpstr>Dataset</vt:lpstr>
      <vt:lpstr>Dataset overview</vt:lpstr>
      <vt:lpstr>ARCHITECTURE DIAGRAM</vt:lpstr>
      <vt:lpstr>PowerPoint Presentation</vt:lpstr>
      <vt:lpstr>Pipeline Overview</vt:lpstr>
      <vt:lpstr>CLIP Embedding &amp; Prompt Testing</vt:lpstr>
      <vt:lpstr>Parameter Tuning</vt:lpstr>
      <vt:lpstr>CLIP Score Evaluation</vt:lpstr>
      <vt:lpstr>Top 10 Generated Images</vt:lpstr>
      <vt:lpstr>Creating Real Image Set for FID</vt:lpstr>
      <vt:lpstr>Final Model Selection</vt:lpstr>
      <vt:lpstr>Final Sample Generation</vt:lpstr>
      <vt:lpstr>Evaluation: FID &amp; Inception Score</vt:lpstr>
      <vt:lpstr>Results</vt:lpstr>
      <vt:lpstr>PowerPoint Presentation</vt:lpstr>
      <vt:lpstr>PowerPoint Presentation</vt:lpstr>
      <vt:lpstr>PowerPoint Presentation</vt:lpstr>
      <vt:lpstr>Final Gallery</vt:lpstr>
      <vt:lpstr>Ethical Considerations</vt:lpstr>
      <vt:lpstr>Gradio UI for Interactive Image Generation </vt:lpstr>
      <vt:lpstr>GitHub + Demo Video</vt:lpstr>
      <vt:lpstr>Conclusion</vt:lpstr>
      <vt:lpstr>Key Findings</vt:lpstr>
      <vt:lpstr>Future Work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Nishanth Manoharan</cp:lastModifiedBy>
  <cp:revision>9</cp:revision>
  <dcterms:created xsi:type="dcterms:W3CDTF">2025-12-11T03:40:56Z</dcterms:created>
  <dcterms:modified xsi:type="dcterms:W3CDTF">2025-12-11T04:08:22Z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2025-12-05T00:00:00Z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2025-12-11T00:00:00Z</vt:filetime>
  </property>
  <property fmtid="{D5CDD505-2E9C-101B-9397-08002B2CF9AE}" pid="5" name="Producer">
    <vt:lpwstr>3-Heights(TM) PDF Security Shell 4.8.25.2 (http://www.pdf-tools.com)</vt:lpwstr>
  </property>
</Properties>
</file>